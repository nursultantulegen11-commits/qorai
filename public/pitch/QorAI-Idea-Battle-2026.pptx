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e9bc8229aa469b" /><Relationship Type="http://schemas.openxmlformats.org/officeDocument/2006/relationships/extended-properties" Target="/docProps/app.xml" Id="Re7f7c4df81f147c7" /><Relationship Type="http://schemas.openxmlformats.org/officeDocument/2006/relationships/officeDocument" Target="/ppt/presentation.xml" Id="R7615a4235b9b40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249e6ca72e4ba0"/>
  </p:sldMasterIdLst>
  <p:notesMasterIdLst>
    <p:notesMasterId xmlns:r="http://schemas.openxmlformats.org/officeDocument/2006/relationships" r:id="R376dac87d9f14b78"/>
  </p:notesMasterIdLst>
  <p:sldIdLst>
    <p:sldId xmlns:r="http://schemas.openxmlformats.org/officeDocument/2006/relationships" id="256" r:id="R1f7fcd71650c4934"/>
    <p:sldId xmlns:r="http://schemas.openxmlformats.org/officeDocument/2006/relationships" id="257" r:id="R009c443a023345df"/>
    <p:sldId xmlns:r="http://schemas.openxmlformats.org/officeDocument/2006/relationships" id="258" r:id="Rb81f9657c3df48d0"/>
    <p:sldId xmlns:r="http://schemas.openxmlformats.org/officeDocument/2006/relationships" id="259" r:id="Rabdb852f40564e3a"/>
    <p:sldId xmlns:r="http://schemas.openxmlformats.org/officeDocument/2006/relationships" id="260" r:id="R50b96f92114242e2"/>
    <p:sldId xmlns:r="http://schemas.openxmlformats.org/officeDocument/2006/relationships" id="261" r:id="R37a5e0ff810e48a5"/>
    <p:sldId xmlns:r="http://schemas.openxmlformats.org/officeDocument/2006/relationships" id="262" r:id="R439ffbd2823745c5"/>
    <p:sldId xmlns:r="http://schemas.openxmlformats.org/officeDocument/2006/relationships" id="263" r:id="R40333ec326004bdb"/>
    <p:sldId xmlns:r="http://schemas.openxmlformats.org/officeDocument/2006/relationships" id="264" r:id="R94f9d9d2832a4b1d"/>
    <p:sldId xmlns:r="http://schemas.openxmlformats.org/officeDocument/2006/relationships" id="265" r:id="Re4358ef50bf649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95f42ed5e54ef5" /><Relationship Type="http://schemas.openxmlformats.org/officeDocument/2006/relationships/slideMaster" Target="/ppt/slideMasters/slideMaster1.xml" Id="Re9249e6ca72e4ba0" /><Relationship Type="http://schemas.openxmlformats.org/officeDocument/2006/relationships/notesMaster" Target="/ppt/notesMasters/notesMaster1.xml" Id="R376dac87d9f14b78" /><Relationship Type="http://schemas.openxmlformats.org/officeDocument/2006/relationships/presProps" Target="/ppt/presProps.xml" Id="R95ae85ae3d964caa" /><Relationship Type="http://schemas.openxmlformats.org/officeDocument/2006/relationships/tableStyles" Target="/ppt/tableStyles.xml" Id="Rb43a6483d7b244da" /><Relationship Type="http://schemas.openxmlformats.org/officeDocument/2006/relationships/slide" Target="/ppt/slides/slide1.xml" Id="R1f7fcd71650c4934" /><Relationship Type="http://schemas.openxmlformats.org/officeDocument/2006/relationships/slide" Target="/ppt/slides/slide2.xml" Id="R009c443a023345df" /><Relationship Type="http://schemas.openxmlformats.org/officeDocument/2006/relationships/slide" Target="/ppt/slides/slide3.xml" Id="Rb81f9657c3df48d0" /><Relationship Type="http://schemas.openxmlformats.org/officeDocument/2006/relationships/slide" Target="/ppt/slides/slide4.xml" Id="Rabdb852f40564e3a" /><Relationship Type="http://schemas.openxmlformats.org/officeDocument/2006/relationships/slide" Target="/ppt/slides/slide5.xml" Id="R50b96f92114242e2" /><Relationship Type="http://schemas.openxmlformats.org/officeDocument/2006/relationships/slide" Target="/ppt/slides/slide6.xml" Id="R37a5e0ff810e48a5" /><Relationship Type="http://schemas.openxmlformats.org/officeDocument/2006/relationships/slide" Target="/ppt/slides/slide7.xml" Id="R439ffbd2823745c5" /><Relationship Type="http://schemas.openxmlformats.org/officeDocument/2006/relationships/slide" Target="/ppt/slides/slide8.xml" Id="R40333ec326004bdb" /><Relationship Type="http://schemas.openxmlformats.org/officeDocument/2006/relationships/slide" Target="/ppt/slides/slide9.xml" Id="R94f9d9d2832a4b1d" /><Relationship Type="http://schemas.openxmlformats.org/officeDocument/2006/relationships/slide" Target="/ppt/slides/slide10.xml" Id="Re4358ef50bf649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9ece8d263846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a83677f08a4ad6" /><Relationship Type="http://schemas.openxmlformats.org/officeDocument/2006/relationships/notesMaster" Target="/ppt/notesMasters/notesMaster1.xml" Id="Ra7bb675f4b3748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8a9418538b4b09" /><Relationship Type="http://schemas.openxmlformats.org/officeDocument/2006/relationships/notesMaster" Target="/ppt/notesMasters/notesMaster1.xml" Id="R5722d4b9e9944c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ca40c7e7dc44e2" /><Relationship Type="http://schemas.openxmlformats.org/officeDocument/2006/relationships/notesMaster" Target="/ppt/notesMasters/notesMaster1.xml" Id="R414f2110cfe84e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5eab1766924fdd" /><Relationship Type="http://schemas.openxmlformats.org/officeDocument/2006/relationships/notesMaster" Target="/ppt/notesMasters/notesMaster1.xml" Id="Ra2e0352327c04b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f099d92a12485e" /><Relationship Type="http://schemas.openxmlformats.org/officeDocument/2006/relationships/notesMaster" Target="/ppt/notesMasters/notesMaster1.xml" Id="R26e87e5a11e246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c66a82d8fc4126" /><Relationship Type="http://schemas.openxmlformats.org/officeDocument/2006/relationships/notesMaster" Target="/ppt/notesMasters/notesMaster1.xml" Id="R8cc7f58a9ead4d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ae461b0ffd405f" /><Relationship Type="http://schemas.openxmlformats.org/officeDocument/2006/relationships/notesMaster" Target="/ppt/notesMasters/notesMaster1.xml" Id="Rac0d4f702ba847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9bf9a644df49ff" /><Relationship Type="http://schemas.openxmlformats.org/officeDocument/2006/relationships/notesMaster" Target="/ppt/notesMasters/notesMaster1.xml" Id="R42cc1ff62dc14a7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64349880ef84e7f" /><Relationship Type="http://schemas.openxmlformats.org/officeDocument/2006/relationships/notesMaster" Target="/ppt/notesMasters/notesMaster1.xml" Id="Rd790348d49a24a3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59adfb7c2e24951" /><Relationship Type="http://schemas.openxmlformats.org/officeDocument/2006/relationships/notesMaster" Target="/ppt/notesMasters/notesMaster1.xml" Id="R661b4088614344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0:00–0:20</a:t>
            </a:r>
          </a:p>
          <a:p xmlns:a="http://schemas.openxmlformats.org/drawingml/2006/main">
            <a:r>
              <a:t>Здравствуйте! Мы команда QorAI. Делаем помощника для владельцев кафе и магазинов Тараза. Он помогает вести склад и готовить закупки с телефона. Наша цель простая: чтобы владелец понимал, что осталось, какие продукты пора использовать и что нужно заказать к следующему дню.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Проверка фактов: функциональность подтверждена локальным кодом и снимками публичного сайта 17.10.2026. Склад и поставщики на снимках учебные. Пилот и цена являются планом и гипотезой.</a:t>
            </a:r>
          </a:p>
          <a:p xmlns:a="http://schemas.openxmlformats.org/drawingml/2006/main">
            <a:r>
              <a:t>Фотография: Long Chung, Unsplash. https://unsplash.com/es/fotos/barista-trabajando-detras-de-un-mostrador-de-cafe-H7PLuaYW6UQ</a:t>
            </a:r>
          </a:p>
          <a:p xmlns:a="http://schemas.openxmlformats.org/drawingml/2006/main">
            <a:r>
              <a:t>Лицензия: https://unsplash.com/license</a:t>
            </a:r>
          </a:p>
          <a:p xmlns:a="http://schemas.openxmlformats.org/drawingml/2006/main">
            <a:r>
              <a:t>Иллюстративное фото. Оно не изображает заявленного клиента или бизнес Тараза.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0:20–0:45</a:t>
            </a:r>
          </a:p>
          <a:p xmlns:a="http://schemas.openxmlformats.org/drawingml/2006/main">
            <a:r>
              <a:t>В небольшой точке собственник часто сам принимает товар, работает с клиентами и договаривается с поставщиками. Остатки считают вручную, накладные остаются в переписке, а закупки делают по памяти. Избыток приводит к списаниям, дефицит мешает продажам. Мы начинаем с этой повседневной задачи. Размер потерь будем измерять вместе с первыми участниками пилота.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Проверка фактов: функциональность подтверждена локальным кодом и снимками публичного сайта 17.10.2026. Склад и поставщики на снимках учебные. Пилот и цена являются планом и гипотезой.</a:t>
            </a:r>
          </a:p>
          <a:p xmlns:a="http://schemas.openxmlformats.org/drawingml/2006/main">
            <a:r>
              <a:t>Фотография: Sean Thoman, Unsplash. https://unsplash.com/photos/fresh-lettuce-and-vegetables-displayed-at-a-market-V-j4JAw_mFk</a:t>
            </a:r>
          </a:p>
          <a:p xmlns:a="http://schemas.openxmlformats.org/drawingml/2006/main">
            <a:r>
              <a:t>Лицензия: https://unsplash.com/license</a:t>
            </a:r>
          </a:p>
          <a:p xmlns:a="http://schemas.openxmlformats.org/drawingml/2006/main">
            <a:r>
              <a:t>Иллюстративное фото. Оно не изображает заявленного клиента или бизнес Тараза.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0:45–1:15</a:t>
            </a:r>
          </a:p>
          <a:p xmlns:a="http://schemas.openxmlformats.org/drawingml/2006/main">
            <a:r>
              <a:t>Вот настоящий интерфейс нового сайта. На одном экране владелец видит стоимость запасов, позиции к закупке и товары, у которых скоро истечёт срок. Рядом находится движение товаров. Сейчас на экране учебные данные, чтобы любой человек мог открыть публичную демонстрацию без регистрации. После входа пользователь работает со своим складом, а сервер сохраняет изменения в базе данных.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Проверка фактов: функциональность подтверждена локальным кодом и снимками публичного сайта 17.10.2026. Склад и поставщики на снимках учебные. Пилот и цена являются планом и гипотезой.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1:15–1:55</a:t>
            </a:r>
          </a:p>
          <a:p xmlns:a="http://schemas.openxmlformats.org/drawingml/2006/main">
            <a:r>
              <a:t>Приход начинается с накладной, голосового сообщения или текста. После разбора человек проверяет названия, количество, цену и срок годности. Только подтверждение владельца меняет остатки. Текст по шаблону и ручной ввод уже работают без внешнего ИИ. Для распознавания фотографий и голоса предусмотрена интеграция Gemini, ей нужен отдельный серверный ключ. На этих кадрах показан реальный разбор текста «Молоко двадцать литров по четыреста пятьдесят тенге».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Проверка фактов: функциональность подтверждена локальным кодом и снимками публичного сайта 17.10.2026. Склад и поставщики на снимках учебные. Пилот и цена являются планом и гипотезой.</a:t>
            </a:r>
          </a:p>
          <a:p xmlns:a="http://schemas.openxmlformats.org/drawingml/2006/main">
            <a:r>
              <a:t>Фото и аудио в публичном демо не отправлялись в Gemini. Серверный Gemini API key ещё требуется для реального распознавания.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1:55–2:30</a:t>
            </a:r>
          </a:p>
          <a:p xmlns:a="http://schemas.openxmlformats.org/drawingml/2006/main">
            <a:r>
              <a:t>QorAI рассчитывает, сколько докупить, из истории продаж, доступных остатков и нужного покрытия. Он учитывает срок доставки, минимальный запас и пригодность партий. История может охватывать до двадцати восьми дней. Если продаж ещё нет, используем минимальный остаток. Поправки на выходные и погоду пока условные, их нужно проверить на данных пилота. Это прозрачный расчёт MVP, точность машинного обучения мы пока не заявляем.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Проверка фактов: функциональность подтверждена локальным кодом и снимками публичного сайта 17.10.2026. Склад и поставщики на снимках учебные. Пилот и цена являются планом и гипотезой.</a:t>
            </a:r>
          </a:p>
          <a:p xmlns:a="http://schemas.openxmlformats.org/drawingml/2006/main">
            <a:r>
              <a:t>Расчёт спроса в исходниках: src/lib/domain.ts. Поправки на погоду и выходные не являются обученной ML-моделью. Экономия не измерена.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2:30–3:05</a:t>
            </a:r>
          </a:p>
          <a:p xmlns:a="http://schemas.openxmlformats.org/drawingml/2006/main">
            <a:r>
              <a:t>Мы добавили поставщиков. Владелец сохраняет компанию, контактное лицо, телефон, Telegram и условия поставки. Из плана закупок он открывает черновик заказа и редактирует список под выбранного поставщика. После нажатия WhatsApp или Telegram открывается нужный мессенджер. Сообщение отправляет сам пользователь. На снимке учебный контакт, поэтому презентация не раскрывает реальные номера поставщиков.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Проверка фактов: функциональность подтверждена локальным кодом и снимками публичного сайта 17.10.2026. Склад и поставщики на снимках учебные. Пилот и цена являются планом и гипотезой.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3:05–3:25</a:t>
            </a:r>
          </a:p>
          <a:p xmlns:a="http://schemas.openxmlformats.org/drawingml/2006/main">
            <a:r>
              <a:t>Сайт адаптирован под компьютер и телефон. На смартфоне навигация находится внизу, а товары показаны удобными карточками. PWA можно добавить на главный экран. Данные личного аккаунта хранятся на сервере. Владелец также может выгрузить учёт в CSV или JSON. На слайде реальные мобильные экраны, открытые в браузере.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Проверка фактов: функциональность подтверждена локальным кодом и снимками публичного сайта 17.10.2026. Склад и поставщики на снимках учебные. Пилот и цена являются планом и гипотезой.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3:25–4:00</a:t>
            </a:r>
          </a:p>
          <a:p xmlns:a="http://schemas.openxmlformats.org/drawingml/2006/main">
            <a:r>
              <a:t>Первый рынок для нас — независимые кафе, кофейни и небольшие магазины Тараза. Планируем десять интервью и пилот с тремя точками. Сравним время на ввод прихода, частоту ошибок и регулярность использования плана закупок. Если участники продолжат пользоваться сервисом и увидят пользу, проверим оплату. Эти цифры описывают план, привлечённых клиентов и подтверждённой экономии у нас пока нет.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Проверка фактов: функциональность подтверждена локальным кодом и снимками публичного сайта 17.10.2026. Склад и поставщики на снимках учебные. Пилот и цена являются планом и гипотезой.</a:t>
            </a:r>
          </a:p>
          <a:p xmlns:a="http://schemas.openxmlformats.org/drawingml/2006/main">
            <a:r>
              <a:t>Фотография: Lawrence Chismorie, Unsplash. https://unsplash.com/photos/a-vendor-arranges-fresh-produce-at-an-outdoor-market-oKw2DRoL2QM</a:t>
            </a:r>
          </a:p>
          <a:p xmlns:a="http://schemas.openxmlformats.org/drawingml/2006/main">
            <a:r>
              <a:t>Лицензия: https://unsplash.com/license</a:t>
            </a:r>
          </a:p>
          <a:p xmlns:a="http://schemas.openxmlformats.org/drawingml/2006/main">
            <a:r>
              <a:t>Иллюстративное фото. Оно не изображает заявленного клиента или бизнес Тараза.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4:00–4:25</a:t>
            </a:r>
          </a:p>
          <a:p xmlns:a="http://schemas.openxmlformats.org/drawingml/2006/main">
            <a:r>
              <a:t>Наша ценовая гипотеза — девять тысяч девятьсот тенге в месяц за одну торговую точку. Это ещё не действующий платный тариф. При тридцати платящих точках месячная выручка составит двести девяносто семь тысяч тенге до расходов на ИИ, хостинг и поддержку. Готовность платить и расходы на обслуживание проверим на пилоте.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Проверка фактов: функциональность подтверждена локальным кодом и снимками публичного сайта 17.10.2026. Склад и поставщики на снимках учебные. Пилот и цена являются планом и гипотезой.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4:25–5:00</a:t>
            </a:r>
          </a:p>
          <a:p xmlns:a="http://schemas.openxmlformats.org/drawingml/2006/main">
            <a:r>
              <a:t>Сейчас у нас есть публичный сайт с демонстрацией, склад с сохранением данных, история операций, план закупок и контакты поставщиков с переходом в мессенджеры. Следующий шаг — три пилотные точки в Таразе. Ищем владельцев, с которыми сможем проверить сценарий на реальных приходах и продажах. Откройте демонстрацию по ссылке на экране. Спасибо! Мы команда QorAI.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Проверка фактов: функциональность подтверждена локальным кодом и снимками публичного сайта 17.10.2026. Склад и поставщики на снимках учебные. Пилот и цена являются планом и гипотезой.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93ac88fcda413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c26fc716be4c5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f66761c79a446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6e706c209b41d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3035ed83c640e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107c8023244d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5FAF772-43C3-40EC-973F-D5BCE1CF78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64B1038-12CE-4A07-8020-82D7E99F623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3AAC2A1-6519-4EE8-9661-A8848844E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8A19BC0-9B5E-4944-8E30-AAD8559EBA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FCB1E4D-855A-46DB-BB63-A8D36B46D3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F8ADF0A-D189-4DC5-A612-1BBB4DB5F4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0F13DA3-8AA7-45E9-814F-492240292F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E76B2E9-9C27-4E04-9069-0D24E286BA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597E9A-D85A-4D9B-822E-AC7EB4D777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809051F-19BF-48CB-9F63-712799CFC3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f4798bdd2d420b" /><Relationship Type="http://schemas.openxmlformats.org/officeDocument/2006/relationships/slideLayout" Target="/ppt/slideLayouts/slideLayout1.xml" Id="R84ba9c0873704f20" /><Relationship Type="http://schemas.openxmlformats.org/officeDocument/2006/relationships/slideLayout" Target="/ppt/slideLayouts/slideLayout2.xml" Id="R0cfa4a4f32e34cd0" /><Relationship Type="http://schemas.openxmlformats.org/officeDocument/2006/relationships/slideLayout" Target="/ppt/slideLayouts/slideLayout3.xml" Id="Rdba0e7151386471f" /><Relationship Type="http://schemas.openxmlformats.org/officeDocument/2006/relationships/slideLayout" Target="/ppt/slideLayouts/slideLayout4.xml" Id="Rb8a7be30f6da47b2" /><Relationship Type="http://schemas.openxmlformats.org/officeDocument/2006/relationships/slideLayout" Target="/ppt/slideLayouts/slideLayout5.xml" Id="R8da053bd8b03461c" /><Relationship Type="http://schemas.openxmlformats.org/officeDocument/2006/relationships/slideLayout" Target="/ppt/slideLayouts/slideLayout6.xml" Id="R755c41e4507344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ba9c0873704f20"/>
    <p:sldLayoutId xmlns:r="http://schemas.openxmlformats.org/officeDocument/2006/relationships" id="2147483650" r:id="R0cfa4a4f32e34cd0"/>
    <p:sldLayoutId xmlns:r="http://schemas.openxmlformats.org/officeDocument/2006/relationships" id="2147483651" r:id="Rdba0e7151386471f"/>
    <p:sldLayoutId xmlns:r="http://schemas.openxmlformats.org/officeDocument/2006/relationships" id="2147483652" r:id="Rb8a7be30f6da47b2"/>
    <p:sldLayoutId xmlns:r="http://schemas.openxmlformats.org/officeDocument/2006/relationships" id="2147483653" r:id="R8da053bd8b03461c"/>
    <p:sldLayoutId xmlns:r="http://schemas.openxmlformats.org/officeDocument/2006/relationships" id="2147483654" r:id="R755c41e4507344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7c0cd8bf0040b5" /><Relationship Type="http://schemas.openxmlformats.org/officeDocument/2006/relationships/image" Target="/ppt/media/image.jpeg" Id="Rd9e41e2e87ed43a9" /><Relationship Type="http://schemas.openxmlformats.org/officeDocument/2006/relationships/notesSlide" Target="/ppt/notesSlides/notesSlide1.xml" Id="R14eaede8e6264e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c663c236fa40aa" /><Relationship Type="http://schemas.openxmlformats.org/officeDocument/2006/relationships/image" Target="/ppt/media/image2.jpeg" Id="Rd2db8592f9e2483a" /><Relationship Type="http://schemas.openxmlformats.org/officeDocument/2006/relationships/notesSlide" Target="/ppt/notesSlides/notesSlide2.xml" Id="Ra77d02b7b49342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6f70874be14db9" /><Relationship Type="http://schemas.openxmlformats.org/officeDocument/2006/relationships/image" Target="/ppt/media/image3.jpeg" Id="R4e5970df815c43a6" /><Relationship Type="http://schemas.openxmlformats.org/officeDocument/2006/relationships/notesSlide" Target="/ppt/notesSlides/notesSlide3.xml" Id="Rc2fb0129348447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7e67582bd048f6" /><Relationship Type="http://schemas.openxmlformats.org/officeDocument/2006/relationships/image" Target="/ppt/media/image4.jpeg" Id="R8813e4597bbd4046" /><Relationship Type="http://schemas.openxmlformats.org/officeDocument/2006/relationships/image" Target="/ppt/media/image5.jpeg" Id="Rcaee248a0b5e4c7d" /><Relationship Type="http://schemas.openxmlformats.org/officeDocument/2006/relationships/notesSlide" Target="/ppt/notesSlides/notesSlide4.xml" Id="R58187fbcb80a4b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0015df24f345af" /><Relationship Type="http://schemas.openxmlformats.org/officeDocument/2006/relationships/image" Target="/ppt/media/image6.jpeg" Id="R045607847e4c4f4d" /><Relationship Type="http://schemas.openxmlformats.org/officeDocument/2006/relationships/notesSlide" Target="/ppt/notesSlides/notesSlide5.xml" Id="R56c045e503e144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2146955d02468e" /><Relationship Type="http://schemas.openxmlformats.org/officeDocument/2006/relationships/image" Target="/ppt/media/image7.jpeg" Id="R9a83b951576c413d" /><Relationship Type="http://schemas.openxmlformats.org/officeDocument/2006/relationships/image" Target="/ppt/media/image8.jpeg" Id="R6c7d731d03be4cd3" /><Relationship Type="http://schemas.openxmlformats.org/officeDocument/2006/relationships/notesSlide" Target="/ppt/notesSlides/notesSlide6.xml" Id="Rc4d7704bf75c47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8f0d7c72e54e28" /><Relationship Type="http://schemas.openxmlformats.org/officeDocument/2006/relationships/image" Target="/ppt/media/image9.jpeg" Id="R3743fd5dcf984806" /><Relationship Type="http://schemas.openxmlformats.org/officeDocument/2006/relationships/image" Target="/ppt/media/image10.jpeg" Id="R3a857a50bcf34925" /><Relationship Type="http://schemas.openxmlformats.org/officeDocument/2006/relationships/notesSlide" Target="/ppt/notesSlides/notesSlide7.xml" Id="R3a51d2718f164c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2492c5e68a4f92" /><Relationship Type="http://schemas.openxmlformats.org/officeDocument/2006/relationships/image" Target="/ppt/media/image11.jpeg" Id="R0a37510dd7174d24" /><Relationship Type="http://schemas.openxmlformats.org/officeDocument/2006/relationships/notesSlide" Target="/ppt/notesSlides/notesSlide8.xml" Id="R5456529206234a5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84c6801be64959" /><Relationship Type="http://schemas.openxmlformats.org/officeDocument/2006/relationships/notesSlide" Target="/ppt/notesSlides/notesSlide9.xml" Id="Rf24954722e90474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d3e5fbfe6945c0" /><Relationship Type="http://schemas.openxmlformats.org/officeDocument/2006/relationships/image" Target="/ppt/media/image12.jpeg" Id="R8112e4b8374246b0" /><Relationship Type="http://schemas.openxmlformats.org/officeDocument/2006/relationships/notesSlide" Target="/ppt/notesSlides/notesSlide10.xml" Id="Rc27739f4c5b444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22F5AB-5BC9-4156-8AAE-4F02DE7FCC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e41e2e87ed43a9"/>
          <a:srcRect xmlns:a="http://schemas.openxmlformats.org/drawingml/2006/main" l="30000" t="0" r="5000" b="0"/>
          <a:stretch xmlns:a="http://schemas.openxmlformats.org/drawingml/2006/main"/>
        </p:blipFill>
        <p:spPr>
          <a:xfrm xmlns:a="http://schemas.openxmlformats.org/drawingml/2006/main">
            <a:off x="5848350" y="0"/>
            <a:ext cx="63436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EE1F10-9BE2-4649-BB53-65F435DE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D5E8B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D5E8B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D5E8B6"/>
                </a:solidFill>
                <a:latin typeface="Liberation Sans"/>
                <a:ea typeface="Liberation Sans"/>
                <a:cs typeface="Liberation Sans"/>
              </a:rPr>
              <a:t>КОМАНДА QORAI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A78FEF-0C62-4608-B2E8-19359B5B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76375"/>
            <a:ext cx="5286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4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84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4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QorAI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751980-FA12-4851-90B8-35C14123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71825"/>
            <a:ext cx="4857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0">
                <a:solidFill>
                  <a:srgbClr val="D5E8B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925" b="0">
                <a:solidFill>
                  <a:srgbClr val="D5E8B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925" b="0">
                <a:solidFill>
                  <a:srgbClr val="D5E8B6"/>
                </a:solidFill>
                <a:latin typeface="Liberation Sans"/>
                <a:ea typeface="Liberation Sans"/>
                <a:cs typeface="Liberation Sans"/>
              </a:rPr>
              <a:t>Запасы под контролем.</a:t>
            </a:r>
          </a:p>
          <a:p xmlns:a="http://schemas.openxmlformats.org/drawingml/2006/main">
            <a:pPr>
              <a:defRPr sz="2925" b="0">
                <a:solidFill>
                  <a:srgbClr val="D5E8B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925" b="0">
                <a:solidFill>
                  <a:srgbClr val="D5E8B6"/>
                </a:solidFill>
                <a:latin typeface="Liberation Sans"/>
                <a:ea typeface="Liberation Sans"/>
                <a:cs typeface="Liberation Sans"/>
              </a:rPr>
              <a:t>Закупки без хаоса.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5156B1-F924-4B4B-AA6C-8153D4FD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4572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Помощник для кафе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и магазинов Тараза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C4D9D4-3013-42DE-8AC4-946542AF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D5E8B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D5E8B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D5E8B6"/>
                </a:solidFill>
                <a:latin typeface="Liberation Sans"/>
                <a:ea typeface="Liberation Sans"/>
                <a:cs typeface="Liberation Sans"/>
              </a:rPr>
              <a:t>IDEA BATTLE 2026</a:t>
            </a:r>
          </a:p>
        </p:txBody>
      </p:sp>
    </p:spTree>
    <p:extLst>
      <p:ext uri="{BB962C8B-B14F-4D97-AF65-F5344CB8AC3E}">
        <p14:creationId xmlns:p14="http://schemas.microsoft.com/office/powerpoint/2010/main" val="3845298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5D9887-28F2-4881-BBA7-00D779580C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db8592f9e2483a"/>
          <a:srcRect xmlns:a="http://schemas.openxmlformats.org/drawingml/2006/main" l="14000" t="0" r="20000" b="0"/>
          <a:stretch xmlns:a="http://schemas.openxmlformats.org/drawingml/2006/main"/>
        </p:blipFill>
        <p:spPr>
          <a:xfrm xmlns:a="http://schemas.openxmlformats.org/drawingml/2006/main">
            <a:off x="6334125" y="0"/>
            <a:ext cx="585787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D6EB52-0CC6-41CE-AF87-932C9EAE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5572125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1C382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1C38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C382E"/>
                </a:solidFill>
                <a:latin typeface="Liberation Sans"/>
                <a:ea typeface="Liberation Sans"/>
                <a:cs typeface="Liberation Sans"/>
              </a:rPr>
              <a:t>Деньги теряются</a:t>
            </a:r>
          </a:p>
          <a:p xmlns:a="http://schemas.openxmlformats.org/drawingml/2006/main">
            <a:pPr>
              <a:defRPr sz="4050" b="1">
                <a:solidFill>
                  <a:srgbClr val="1C38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C382E"/>
                </a:solidFill>
                <a:latin typeface="Liberation Sans"/>
                <a:ea typeface="Liberation Sans"/>
                <a:cs typeface="Liberation Sans"/>
              </a:rPr>
              <a:t>между закупкой</a:t>
            </a:r>
          </a:p>
          <a:p xmlns:a="http://schemas.openxmlformats.org/drawingml/2006/main">
            <a:pPr>
              <a:defRPr sz="4050" b="1">
                <a:solidFill>
                  <a:srgbClr val="1C38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C382E"/>
                </a:solidFill>
                <a:latin typeface="Liberation Sans"/>
                <a:ea typeface="Liberation Sans"/>
                <a:cs typeface="Liberation Sans"/>
              </a:rPr>
              <a:t>и продажей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28F64C-1D35-454C-AC15-A5F4C5C0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528637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rPr>
              <a:t>Избыток ведёт к списаниям.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rPr>
              <a:t>Дефицит срывает продажи.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rPr>
              <a:t>Ручной учёт отнимает время.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AB8B75-D700-43B1-AF08-F862EF6C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1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rPr>
              <a:t>Проблема, которую проверяем с владельцами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238D30-4AC4-452B-A7F9-49B30E95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4664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4664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664F"/>
                </a:solidFill>
                <a:latin typeface="Liberation Sans"/>
                <a:ea typeface="Liberation Sans"/>
                <a:cs typeface="Liberation Sans"/>
              </a:rPr>
              <a:t>QorAI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6A944E-920D-4105-9181-0E19F1D9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238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02 / 10</a:t>
            </a:r>
          </a:p>
        </p:txBody>
      </p:sp>
    </p:spTree>
    <p:extLst>
      <p:ext uri="{BB962C8B-B14F-4D97-AF65-F5344CB8AC3E}">
        <p14:creationId xmlns:p14="http://schemas.microsoft.com/office/powerpoint/2010/main" val="12137610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FE1029-1AF1-40EE-99A8-3A9DBCF9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238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rPr>
              <a:t>03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B9D48F-1D01-44BF-947F-4B757E9A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3505200" cy="2105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1C382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1C38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C382E"/>
                </a:solidFill>
                <a:latin typeface="Liberation Sans"/>
                <a:ea typeface="Liberation Sans"/>
                <a:cs typeface="Liberation Sans"/>
              </a:rPr>
              <a:t>Весь склад</a:t>
            </a:r>
          </a:p>
          <a:p xmlns:a="http://schemas.openxmlformats.org/drawingml/2006/main">
            <a:pPr>
              <a:defRPr sz="4050" b="1">
                <a:solidFill>
                  <a:srgbClr val="1C38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C382E"/>
                </a:solidFill>
                <a:latin typeface="Liberation Sans"/>
                <a:ea typeface="Liberation Sans"/>
                <a:cs typeface="Liberation Sans"/>
              </a:rPr>
              <a:t>на одном</a:t>
            </a:r>
          </a:p>
          <a:p xmlns:a="http://schemas.openxmlformats.org/drawingml/2006/main">
            <a:pPr>
              <a:defRPr sz="4050" b="1">
                <a:solidFill>
                  <a:srgbClr val="1C38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C382E"/>
                </a:solidFill>
                <a:latin typeface="Liberation Sans"/>
                <a:ea typeface="Liberation Sans"/>
                <a:cs typeface="Liberation Sans"/>
              </a:rPr>
              <a:t>экране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B2FC81-82D0-44B4-9CAD-99D07994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32861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rPr>
              <a:t>Остатки в тенге.</a:t>
            </a:r>
          </a:p>
          <a:p xmlns:a="http://schemas.openxmlformats.org/drawingml/2006/main">
            <a:pPr>
              <a:defRPr sz="2025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rPr>
              <a:t>Товары к закупке.</a:t>
            </a:r>
          </a:p>
          <a:p xmlns:a="http://schemas.openxmlformats.org/drawingml/2006/main">
            <a:pPr>
              <a:defRPr sz="2025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rPr>
              <a:t>Ближайшие сроки.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985EE9-AC0F-46C2-BF07-BBF145C972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5970df815c43a6"/>
          <a:srcRect xmlns:a="http://schemas.openxmlformats.org/drawingml/2006/main" l="0" t="4500" r="0" b="46000"/>
          <a:stretch xmlns:a="http://schemas.openxmlformats.org/drawingml/2006/main"/>
        </p:blipFill>
        <p:spPr>
          <a:xfrm xmlns:a="http://schemas.openxmlformats.org/drawingml/2006/main">
            <a:off x="4210050" y="1228725"/>
            <a:ext cx="7448550" cy="48672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A7D750-FC18-4ACD-B841-5E8EF43B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1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rPr>
              <a:t>Рабочий сайт QorAI. На экранах учебные данные.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A4108C-053B-4516-B4E4-4B5984F3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4664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4664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664F"/>
                </a:solidFill>
                <a:latin typeface="Liberation Sans"/>
                <a:ea typeface="Liberation Sans"/>
                <a:cs typeface="Liberation Sans"/>
              </a:rPr>
              <a:t>QorAI</a:t>
            </a:r>
          </a:p>
        </p:txBody>
      </p:sp>
    </p:spTree>
    <p:extLst>
      <p:ext uri="{BB962C8B-B14F-4D97-AF65-F5344CB8AC3E}">
        <p14:creationId xmlns:p14="http://schemas.microsoft.com/office/powerpoint/2010/main" val="19534142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3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421E1E-3EBE-4A74-9245-93862A5C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238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D5E8B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D5E8B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D5E8B6"/>
                </a:solidFill>
                <a:latin typeface="Liberation Sans"/>
                <a:ea typeface="Liberation Sans"/>
                <a:cs typeface="Liberation Sans"/>
              </a:rPr>
              <a:t>04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261FB0-522D-4911-9634-78FCB658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49530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От накладной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к приходу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на склад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4C1E83-2C6B-4BA4-82EF-1647CC03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50482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D5E8B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D5E8B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D5E8B6"/>
                </a:solidFill>
                <a:latin typeface="Liberation Sans"/>
                <a:ea typeface="Liberation Sans"/>
                <a:cs typeface="Liberation Sans"/>
              </a:rPr>
              <a:t>Фото, голос или текст.</a:t>
            </a:r>
          </a:p>
          <a:p xmlns:a="http://schemas.openxmlformats.org/drawingml/2006/main">
            <a:pPr>
              <a:defRPr sz="1950" b="0">
                <a:solidFill>
                  <a:srgbClr val="D5E8B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D5E8B6"/>
                </a:solidFill>
                <a:latin typeface="Liberation Sans"/>
                <a:ea typeface="Liberation Sans"/>
                <a:cs typeface="Liberation Sans"/>
              </a:rPr>
              <a:t>Проверка позиций владельцем.</a:t>
            </a:r>
          </a:p>
          <a:p xmlns:a="http://schemas.openxmlformats.org/drawingml/2006/main">
            <a:pPr>
              <a:defRPr sz="1950" b="0">
                <a:solidFill>
                  <a:srgbClr val="D5E8B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D5E8B6"/>
                </a:solidFill>
                <a:latin typeface="Liberation Sans"/>
                <a:ea typeface="Liberation Sans"/>
                <a:cs typeface="Liberation Sans"/>
              </a:rPr>
              <a:t>Подтверждение прихода.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579632-3352-431B-8837-3B7CD31D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981075"/>
            <a:ext cx="2428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D5E8B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D5E8B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D5E8B6"/>
                </a:solidFill>
                <a:latin typeface="Liberation Sans"/>
                <a:ea typeface="Liberation Sans"/>
                <a:cs typeface="Liberation Sans"/>
              </a:rPr>
              <a:t>Ввод закупки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930CE5-07D8-4E18-B774-D39CCC4F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981075"/>
            <a:ext cx="2428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D5E8B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D5E8B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D5E8B6"/>
                </a:solidFill>
                <a:latin typeface="Liberation Sans"/>
                <a:ea typeface="Liberation Sans"/>
                <a:cs typeface="Liberation Sans"/>
              </a:rPr>
              <a:t>Проверка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27F432-168A-4517-B324-70D1AE1852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13e4597bbd4046"/>
          <a:srcRect xmlns:a="http://schemas.openxmlformats.org/drawingml/2006/main" l="2000" t="28000" r="2000" b="2000"/>
          <a:stretch xmlns:a="http://schemas.openxmlformats.org/drawingml/2006/main"/>
        </p:blipFill>
        <p:spPr>
          <a:xfrm xmlns:a="http://schemas.openxmlformats.org/drawingml/2006/main">
            <a:off x="6191250" y="1543050"/>
            <a:ext cx="2533650" cy="434340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1C2364-28A2-40D1-8D46-0053FCF566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ee248a0b5e4c7d"/>
          <a:srcRect xmlns:a="http://schemas.openxmlformats.org/drawingml/2006/main" l="2000" t="5500" r="2000" b="2000"/>
          <a:stretch xmlns:a="http://schemas.openxmlformats.org/drawingml/2006/main"/>
        </p:blipFill>
        <p:spPr>
          <a:xfrm xmlns:a="http://schemas.openxmlformats.org/drawingml/2006/main">
            <a:off x="9086850" y="1419225"/>
            <a:ext cx="2514600" cy="4857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EC0840-C0C1-4923-8637-C1F5F2CB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1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D5E8B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D5E8B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D5E8B6"/>
                </a:solidFill>
                <a:latin typeface="Liberation Sans"/>
                <a:ea typeface="Liberation Sans"/>
                <a:cs typeface="Liberation Sans"/>
              </a:rPr>
              <a:t>Для фото и голоса нужен серверный ключ Gemini.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781B96-D0D8-4BC9-896A-458246DB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D5E8B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D5E8B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D5E8B6"/>
                </a:solidFill>
                <a:latin typeface="Liberation Sans"/>
                <a:ea typeface="Liberation Sans"/>
                <a:cs typeface="Liberation Sans"/>
              </a:rPr>
              <a:t>QorAI</a:t>
            </a:r>
          </a:p>
        </p:txBody>
      </p:sp>
    </p:spTree>
    <p:extLst>
      <p:ext uri="{BB962C8B-B14F-4D97-AF65-F5344CB8AC3E}">
        <p14:creationId xmlns:p14="http://schemas.microsoft.com/office/powerpoint/2010/main" val="1000349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BFE6AF-A5FF-402B-AB27-E8B60C35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238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rPr>
              <a:t>05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44C825-5349-417C-921A-29D8560A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0137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1C382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C38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750" b="1">
                <a:solidFill>
                  <a:srgbClr val="1C382E"/>
                </a:solidFill>
                <a:latin typeface="Liberation Sans"/>
                <a:ea typeface="Liberation Sans"/>
                <a:cs typeface="Liberation Sans"/>
              </a:rPr>
              <a:t>QorAI подсказывает,</a:t>
            </a:r>
          </a:p>
          <a:p xmlns:a="http://schemas.openxmlformats.org/drawingml/2006/main">
            <a:pPr>
              <a:defRPr sz="3750" b="1">
                <a:solidFill>
                  <a:srgbClr val="1C38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750" b="1">
                <a:solidFill>
                  <a:srgbClr val="1C382E"/>
                </a:solidFill>
                <a:latin typeface="Liberation Sans"/>
                <a:ea typeface="Liberation Sans"/>
                <a:cs typeface="Liberation Sans"/>
              </a:rPr>
              <a:t>сколько докупить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290607-7C35-4412-A78E-C1547806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0"/>
            <a:ext cx="3524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4664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4664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00" b="1">
                <a:solidFill>
                  <a:srgbClr val="24664F"/>
                </a:solidFill>
                <a:latin typeface="Liberation Sans"/>
                <a:ea typeface="Liberation Sans"/>
                <a:cs typeface="Liberation Sans"/>
              </a:rPr>
              <a:t>Расход за день</a:t>
            </a:r>
          </a:p>
          <a:p xmlns:a="http://schemas.openxmlformats.org/drawingml/2006/main">
            <a:pPr>
              <a:defRPr sz="2400" b="1">
                <a:solidFill>
                  <a:srgbClr val="24664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00" b="1">
                <a:solidFill>
                  <a:srgbClr val="24664F"/>
                </a:solidFill>
                <a:latin typeface="Liberation Sans"/>
                <a:ea typeface="Liberation Sans"/>
                <a:cs typeface="Liberation Sans"/>
              </a:rPr>
              <a:t>× дни покрытия</a:t>
            </a:r>
          </a:p>
          <a:p xmlns:a="http://schemas.openxmlformats.org/drawingml/2006/main">
            <a:pPr>
              <a:defRPr sz="2400" b="1">
                <a:solidFill>
                  <a:srgbClr val="24664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00" b="1">
                <a:solidFill>
                  <a:srgbClr val="24664F"/>
                </a:solidFill>
                <a:latin typeface="Liberation Sans"/>
                <a:ea typeface="Liberation Sans"/>
                <a:cs typeface="Liberation Sans"/>
              </a:rPr>
              <a:t>− пригодный остаток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B9860A-1825-4691-8978-516CDC8F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3381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rPr>
              <a:t>Учитываем срок поставки</a:t>
            </a:r>
          </a:p>
          <a:p xmlns:a="http://schemas.openxmlformats.org/drawingml/2006/main">
            <a:pPr>
              <a:defRPr sz="1875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rPr>
              <a:t>и минимальный запас.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8E2A7E-B85D-4883-93CA-4944857F36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5607847e4c4f4d"/>
          <a:srcRect xmlns:a="http://schemas.openxmlformats.org/drawingml/2006/main" l="19000" t="31000" r="2000" b="20000"/>
          <a:stretch xmlns:a="http://schemas.openxmlformats.org/drawingml/2006/main"/>
        </p:blipFill>
        <p:spPr>
          <a:xfrm xmlns:a="http://schemas.openxmlformats.org/drawingml/2006/main">
            <a:off x="4257675" y="2628900"/>
            <a:ext cx="7419975" cy="31718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BD09A0-3FC9-446B-A054-81DC154F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1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rPr>
              <a:t>Погодные поправки и коэффициенты выходных пока остаются гипотезой MVP.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A99525-AC12-4A13-9CE1-411F5AB8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4664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4664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664F"/>
                </a:solidFill>
                <a:latin typeface="Liberation Sans"/>
                <a:ea typeface="Liberation Sans"/>
                <a:cs typeface="Liberation Sans"/>
              </a:rPr>
              <a:t>QorAI</a:t>
            </a:r>
          </a:p>
        </p:txBody>
      </p:sp>
    </p:spTree>
    <p:extLst>
      <p:ext uri="{BB962C8B-B14F-4D97-AF65-F5344CB8AC3E}">
        <p14:creationId xmlns:p14="http://schemas.microsoft.com/office/powerpoint/2010/main" val="2637148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8EA821-8F14-4DEB-994D-707066CC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238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rPr>
              <a:t>06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4DA1EE-E9B9-454A-B96A-5A526D87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59817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1C382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1C38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675" b="1">
                <a:solidFill>
                  <a:srgbClr val="1C382E"/>
                </a:solidFill>
                <a:latin typeface="Liberation Sans"/>
                <a:ea typeface="Liberation Sans"/>
                <a:cs typeface="Liberation Sans"/>
              </a:rPr>
              <a:t>Поставщик сохранён.</a:t>
            </a:r>
          </a:p>
          <a:p xmlns:a="http://schemas.openxmlformats.org/drawingml/2006/main">
            <a:pPr>
              <a:defRPr sz="3675" b="1">
                <a:solidFill>
                  <a:srgbClr val="1C38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675" b="1">
                <a:solidFill>
                  <a:srgbClr val="1C382E"/>
                </a:solidFill>
                <a:latin typeface="Liberation Sans"/>
                <a:ea typeface="Liberation Sans"/>
                <a:cs typeface="Liberation Sans"/>
              </a:rPr>
              <a:t>Заказ уже в черновике.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15C0CA-7E34-4640-BDDD-FFDE0932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62275"/>
            <a:ext cx="34766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rPr>
              <a:t>Имя, номер, Telegram</a:t>
            </a:r>
          </a:p>
          <a:p xmlns:a="http://schemas.openxmlformats.org/drawingml/2006/main">
            <a:pPr>
              <a:defRPr sz="2025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rPr>
              <a:t>и условия поставки</a:t>
            </a:r>
          </a:p>
          <a:p xmlns:a="http://schemas.openxmlformats.org/drawingml/2006/main">
            <a:pPr>
              <a:defRPr sz="2025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rPr>
              <a:t>в одном контакте.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216F1D-EBA0-4609-825A-0E8BE245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81550"/>
            <a:ext cx="3857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4664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4664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4664F"/>
                </a:solidFill>
                <a:latin typeface="Liberation Sans"/>
                <a:ea typeface="Liberation Sans"/>
                <a:cs typeface="Liberation Sans"/>
              </a:rPr>
              <a:t>WhatsApp или Telegram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47C681-2E90-40DE-9780-AE323C45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57800"/>
            <a:ext cx="3762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rPr>
              <a:t>Вы проверяете заказ</a:t>
            </a:r>
          </a:p>
          <a:p xmlns:a="http://schemas.openxmlformats.org/drawingml/2006/main">
            <a:pPr>
              <a:defRPr sz="1875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rPr>
              <a:t>и отправляете сообщение.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1BED79-635D-40CA-B86E-5E51C81B5A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83b951576c413d"/>
          <a:srcRect xmlns:a="http://schemas.openxmlformats.org/drawingml/2006/main" l="19800" t="37800" r="55200" b="25500"/>
          <a:stretch xmlns:a="http://schemas.openxmlformats.org/drawingml/2006/main"/>
        </p:blipFill>
        <p:spPr>
          <a:xfrm xmlns:a="http://schemas.openxmlformats.org/drawingml/2006/main">
            <a:off x="4581525" y="2752725"/>
            <a:ext cx="2800350" cy="316230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1F65E3-0520-4B94-9BC5-F86712560D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7d731d03be4cd3"/>
          <a:srcRect xmlns:a="http://schemas.openxmlformats.org/drawingml/2006/main" l="32300" t="18600" r="32300" b="18600"/>
          <a:stretch xmlns:a="http://schemas.openxmlformats.org/drawingml/2006/main"/>
        </p:blipFill>
        <p:spPr>
          <a:xfrm xmlns:a="http://schemas.openxmlformats.org/drawingml/2006/main">
            <a:off x="7915275" y="1152525"/>
            <a:ext cx="3676650" cy="48958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9AB8CF-5C46-47A5-8C54-DA4333AA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1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rPr>
              <a:t>Снимки рабочего интерфейса. Контакт поставщика учебный.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2C047E-4E38-45CA-8A08-91C2D750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4664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4664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664F"/>
                </a:solidFill>
                <a:latin typeface="Liberation Sans"/>
                <a:ea typeface="Liberation Sans"/>
                <a:cs typeface="Liberation Sans"/>
              </a:rPr>
              <a:t>QorAI</a:t>
            </a:r>
          </a:p>
        </p:txBody>
      </p:sp>
    </p:spTree>
    <p:extLst>
      <p:ext uri="{BB962C8B-B14F-4D97-AF65-F5344CB8AC3E}">
        <p14:creationId xmlns:p14="http://schemas.microsoft.com/office/powerpoint/2010/main" val="10453302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96A6AF-78E8-4AE6-8A10-2B6C8AD1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238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rPr>
              <a:t>07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1937B4-3522-4F5F-9923-76C4CBC0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19225"/>
            <a:ext cx="5429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1C382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C38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750" b="1">
                <a:solidFill>
                  <a:srgbClr val="1C382E"/>
                </a:solidFill>
                <a:latin typeface="Liberation Sans"/>
                <a:ea typeface="Liberation Sans"/>
                <a:cs typeface="Liberation Sans"/>
              </a:rPr>
              <a:t>Склад под рукой.</a:t>
            </a:r>
          </a:p>
          <a:p xmlns:a="http://schemas.openxmlformats.org/drawingml/2006/main">
            <a:pPr>
              <a:defRPr sz="3750" b="1">
                <a:solidFill>
                  <a:srgbClr val="1C38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750" b="1">
                <a:solidFill>
                  <a:srgbClr val="1C382E"/>
                </a:solidFill>
                <a:latin typeface="Liberation Sans"/>
                <a:ea typeface="Liberation Sans"/>
                <a:cs typeface="Liberation Sans"/>
              </a:rPr>
              <a:t>Даже со смартфона.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E121D7-3D61-444E-8EC7-E55D1F10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67125"/>
            <a:ext cx="5362575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rPr>
              <a:t>Личный аккаунт хранит данные.</a:t>
            </a:r>
          </a:p>
          <a:p xmlns:a="http://schemas.openxmlformats.org/drawingml/2006/main">
            <a:pPr>
              <a:defRPr sz="1950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rPr>
              <a:t>PWA открывается на телефоне.</a:t>
            </a:r>
          </a:p>
          <a:p xmlns:a="http://schemas.openxmlformats.org/drawingml/2006/main">
            <a:pPr>
              <a:defRPr sz="1950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rPr>
              <a:t>Экспорт доступен в CSV и JSON.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A57534-6F88-4ECF-B607-191B15F0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866775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4664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4664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24664F"/>
                </a:solidFill>
                <a:latin typeface="Liberation Sans"/>
                <a:ea typeface="Liberation Sans"/>
                <a:cs typeface="Liberation Sans"/>
              </a:rPr>
              <a:t>Обзор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09DE85-3BB1-4E63-BEF0-30ED6774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866775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4664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4664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24664F"/>
                </a:solidFill>
                <a:latin typeface="Liberation Sans"/>
                <a:ea typeface="Liberation Sans"/>
                <a:cs typeface="Liberation Sans"/>
              </a:rPr>
              <a:t>Склад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0C3F7A-DA3C-4E0E-B7CA-5BFC915FEF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43fd5dcf984806"/>
          <a:srcRect xmlns:a="http://schemas.openxmlformats.org/drawingml/2006/main" l="0" t="0" r="2800" b="0"/>
          <a:stretch xmlns:a="http://schemas.openxmlformats.org/drawingml/2006/main"/>
        </p:blipFill>
        <p:spPr>
          <a:xfrm xmlns:a="http://schemas.openxmlformats.org/drawingml/2006/main">
            <a:off x="6486525" y="1304925"/>
            <a:ext cx="2333625" cy="504825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3DDB4A-BF1D-4C77-8512-2513CDDE45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857a50bcf34925"/>
          <a:srcRect xmlns:a="http://schemas.openxmlformats.org/drawingml/2006/main" l="0" t="0" r="2800" b="0"/>
          <a:stretch xmlns:a="http://schemas.openxmlformats.org/drawingml/2006/main"/>
        </p:blipFill>
        <p:spPr>
          <a:xfrm xmlns:a="http://schemas.openxmlformats.org/drawingml/2006/main">
            <a:off x="9267825" y="1304925"/>
            <a:ext cx="2333625" cy="5048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0E3A2E-5926-4965-9054-A2DFA1D1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1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rPr>
              <a:t>Реальные мобильные экраны QorAI.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0FA921-FFC2-4210-8F7E-5A4474A2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4664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4664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664F"/>
                </a:solidFill>
                <a:latin typeface="Liberation Sans"/>
                <a:ea typeface="Liberation Sans"/>
                <a:cs typeface="Liberation Sans"/>
              </a:rPr>
              <a:t>QorAI</a:t>
            </a:r>
          </a:p>
        </p:txBody>
      </p:sp>
    </p:spTree>
    <p:extLst>
      <p:ext uri="{BB962C8B-B14F-4D97-AF65-F5344CB8AC3E}">
        <p14:creationId xmlns:p14="http://schemas.microsoft.com/office/powerpoint/2010/main" val="5049201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845EC5-5F50-4E0B-A036-B83B27A0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238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rPr>
              <a:t>08 / 10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573BD2-3235-4C01-AB9C-386E65183A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37510dd7174d24"/>
          <a:srcRect xmlns:a="http://schemas.openxmlformats.org/drawingml/2006/main" l="23000" t="3000" r="31000" b="3000"/>
          <a:stretch xmlns:a="http://schemas.openxmlformats.org/drawingml/2006/main"/>
        </p:blipFill>
        <p:spPr>
          <a:xfrm xmlns:a="http://schemas.openxmlformats.org/drawingml/2006/main">
            <a:off x="0" y="0"/>
            <a:ext cx="503872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953B7C-2F45-43DA-993D-5EF2E95A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857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4664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4664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664F"/>
                </a:solidFill>
                <a:latin typeface="Liberation Sans"/>
                <a:ea typeface="Liberation Sans"/>
                <a:cs typeface="Liberation Sans"/>
              </a:rPr>
              <a:t>QorAI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D31B1E-A1E7-489A-BB4B-6885A3F0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1209675"/>
            <a:ext cx="6048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825" b="1">
                <a:solidFill>
                  <a:srgbClr val="1C382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825" b="1">
                <a:solidFill>
                  <a:srgbClr val="1C38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825" b="1">
                <a:solidFill>
                  <a:srgbClr val="1C382E"/>
                </a:solidFill>
                <a:latin typeface="Liberation Sans"/>
                <a:ea typeface="Liberation Sans"/>
                <a:cs typeface="Liberation Sans"/>
              </a:rPr>
              <a:t>Начинаем</a:t>
            </a:r>
          </a:p>
          <a:p xmlns:a="http://schemas.openxmlformats.org/drawingml/2006/main">
            <a:pPr>
              <a:defRPr sz="3825" b="1">
                <a:solidFill>
                  <a:srgbClr val="1C38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825" b="1">
                <a:solidFill>
                  <a:srgbClr val="1C382E"/>
                </a:solidFill>
                <a:latin typeface="Liberation Sans"/>
                <a:ea typeface="Liberation Sans"/>
                <a:cs typeface="Liberation Sans"/>
              </a:rPr>
              <a:t>с малого бизнеса</a:t>
            </a:r>
          </a:p>
          <a:p xmlns:a="http://schemas.openxmlformats.org/drawingml/2006/main">
            <a:pPr>
              <a:defRPr sz="3825" b="1">
                <a:solidFill>
                  <a:srgbClr val="1C38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825" b="1">
                <a:solidFill>
                  <a:srgbClr val="1C382E"/>
                </a:solidFill>
                <a:latin typeface="Liberation Sans"/>
                <a:ea typeface="Liberation Sans"/>
                <a:cs typeface="Liberation Sans"/>
              </a:rPr>
              <a:t>Тараза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3BC456-012E-4ADD-AEC3-49E7F602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4099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rPr>
              <a:t>ПЛАН ПИЛОТА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729BA5-B31E-4563-B111-37A174FE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952875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300" b="1">
                <a:solidFill>
                  <a:srgbClr val="24664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6300" b="1">
                <a:solidFill>
                  <a:srgbClr val="24664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6300" b="1">
                <a:solidFill>
                  <a:srgbClr val="24664F"/>
                </a:solidFill>
                <a:latin typeface="Liberation Sans"/>
                <a:ea typeface="Liberation Sans"/>
                <a:cs typeface="Liberation Sans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404B41-702E-4BF1-A382-BC4CE420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52875"/>
            <a:ext cx="161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300" b="1">
                <a:solidFill>
                  <a:srgbClr val="24664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6300" b="1">
                <a:solidFill>
                  <a:srgbClr val="24664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6300" b="1">
                <a:solidFill>
                  <a:srgbClr val="24664F"/>
                </a:solidFill>
                <a:latin typeface="Liberation Sans"/>
                <a:ea typeface="Liberation Sans"/>
                <a:cs typeface="Liberation Sans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FE2A77-FDD2-465C-9018-A76AF945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953000"/>
            <a:ext cx="276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rPr>
              <a:t>интервью</a:t>
            </a:r>
          </a:p>
          <a:p xmlns:a="http://schemas.openxmlformats.org/drawingml/2006/main">
            <a:pPr>
              <a:defRPr sz="1950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rPr>
              <a:t>с владельцами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7D28EC-A559-4D97-B1DD-2388E6EA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953000"/>
            <a:ext cx="276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rPr>
              <a:t>пилотные</a:t>
            </a:r>
          </a:p>
          <a:p xmlns:a="http://schemas.openxmlformats.org/drawingml/2006/main">
            <a:pPr>
              <a:defRPr sz="1950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rPr>
              <a:t>точки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BBF0F0-5172-4BBA-929A-9FBCA7FD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6057900"/>
            <a:ext cx="5924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C382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C38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C382E"/>
                </a:solidFill>
                <a:latin typeface="Liberation Sans"/>
                <a:ea typeface="Liberation Sans"/>
                <a:cs typeface="Liberation Sans"/>
              </a:rPr>
              <a:t>Измерим время ввода, ошибки и регулярность работы.</a:t>
            </a:r>
          </a:p>
        </p:txBody>
      </p:sp>
    </p:spTree>
    <p:extLst>
      <p:ext uri="{BB962C8B-B14F-4D97-AF65-F5344CB8AC3E}">
        <p14:creationId xmlns:p14="http://schemas.microsoft.com/office/powerpoint/2010/main" val="10118646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73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A9FE83-C225-48E0-9E19-E8A182D9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238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D5E8B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D5E8B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D5E8B6"/>
                </a:solidFill>
                <a:latin typeface="Liberation Sans"/>
                <a:ea typeface="Liberation Sans"/>
                <a:cs typeface="Liberation Sans"/>
              </a:rPr>
              <a:t>09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D77279-AE22-4134-B229-F0A6768A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90625"/>
            <a:ext cx="108394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7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97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97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Подписка за одну</a:t>
            </a:r>
          </a:p>
          <a:p xmlns:a="http://schemas.openxmlformats.org/drawingml/2006/main">
            <a:pPr>
              <a:defRPr sz="397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97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торговую точку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14D70C-376A-4B36-B0F1-81E4B0DD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838450"/>
            <a:ext cx="7239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700" b="1">
                <a:solidFill>
                  <a:srgbClr val="D5E8B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8700" b="1">
                <a:solidFill>
                  <a:srgbClr val="D5E8B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700" b="1">
                <a:solidFill>
                  <a:srgbClr val="D5E8B6"/>
                </a:solidFill>
                <a:latin typeface="Liberation Sans"/>
                <a:ea typeface="Liberation Sans"/>
                <a:cs typeface="Liberation Sans"/>
              </a:rPr>
              <a:t>9 900 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03F631-11AA-4F87-B41D-CFE83D0F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14825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в месяц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1B8CCB-408B-424B-95C5-A95C3A19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76575"/>
            <a:ext cx="3810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D5E8B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D5E8B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0">
                <a:solidFill>
                  <a:srgbClr val="D5E8B6"/>
                </a:solidFill>
                <a:latin typeface="Liberation Sans"/>
                <a:ea typeface="Liberation Sans"/>
                <a:cs typeface="Liberation Sans"/>
              </a:rPr>
              <a:t>Ценовая гипотеза</a:t>
            </a:r>
          </a:p>
          <a:p xmlns:a="http://schemas.openxmlformats.org/drawingml/2006/main">
            <a:pPr>
              <a:defRPr sz="2100" b="0">
                <a:solidFill>
                  <a:srgbClr val="D5E8B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0">
                <a:solidFill>
                  <a:srgbClr val="D5E8B6"/>
                </a:solidFill>
                <a:latin typeface="Liberation Sans"/>
                <a:ea typeface="Liberation Sans"/>
                <a:cs typeface="Liberation Sans"/>
              </a:rPr>
              <a:t>для проверки на пилоте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2C7146-0989-4CB3-9E4D-40F2B9D9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0067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30 точек = 297 000 ₸ / месяц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248B09-8C17-4F1B-80D7-5065CF09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1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D5E8B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D5E8B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D5E8B6"/>
                </a:solidFill>
                <a:latin typeface="Liberation Sans"/>
                <a:ea typeface="Liberation Sans"/>
                <a:cs typeface="Liberation Sans"/>
              </a:rPr>
              <a:t>Сценарий выручки до расходов на ИИ, хостинг и поддержку.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BB60DA-A93C-46A3-A016-83EBF55D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D5E8B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D5E8B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D5E8B6"/>
                </a:solidFill>
                <a:latin typeface="Liberation Sans"/>
                <a:ea typeface="Liberation Sans"/>
                <a:cs typeface="Liberation Sans"/>
              </a:rPr>
              <a:t>QorAI</a:t>
            </a:r>
          </a:p>
        </p:txBody>
      </p:sp>
    </p:spTree>
    <p:extLst>
      <p:ext uri="{BB962C8B-B14F-4D97-AF65-F5344CB8AC3E}">
        <p14:creationId xmlns:p14="http://schemas.microsoft.com/office/powerpoint/2010/main" val="7082875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F3ADF8-68ED-4116-AE38-322F8FD0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238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rPr>
              <a:t>10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74AA4D-E28F-40AF-A64A-993F5CBA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660082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C382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C38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900" b="1">
                <a:solidFill>
                  <a:srgbClr val="1C382E"/>
                </a:solidFill>
                <a:latin typeface="Liberation Sans"/>
                <a:ea typeface="Liberation Sans"/>
                <a:cs typeface="Liberation Sans"/>
              </a:rPr>
              <a:t>Ищем 3 кафе</a:t>
            </a:r>
          </a:p>
          <a:p xmlns:a="http://schemas.openxmlformats.org/drawingml/2006/main">
            <a:pPr>
              <a:defRPr sz="3900" b="1">
                <a:solidFill>
                  <a:srgbClr val="1C38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900" b="1">
                <a:solidFill>
                  <a:srgbClr val="1C382E"/>
                </a:solidFill>
                <a:latin typeface="Liberation Sans"/>
                <a:ea typeface="Liberation Sans"/>
                <a:cs typeface="Liberation Sans"/>
              </a:rPr>
              <a:t>или магазина</a:t>
            </a:r>
          </a:p>
          <a:p xmlns:a="http://schemas.openxmlformats.org/drawingml/2006/main">
            <a:pPr>
              <a:defRPr sz="3900" b="1">
                <a:solidFill>
                  <a:srgbClr val="1C38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900" b="1">
                <a:solidFill>
                  <a:srgbClr val="1C382E"/>
                </a:solidFill>
                <a:latin typeface="Liberation Sans"/>
                <a:ea typeface="Liberation Sans"/>
                <a:cs typeface="Liberation Sans"/>
              </a:rPr>
              <a:t>для пилота в Таразе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82E199-DF73-47D1-B5F2-BC171D86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24300"/>
            <a:ext cx="5905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4664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4664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1">
                <a:solidFill>
                  <a:srgbClr val="24664F"/>
                </a:solidFill>
                <a:latin typeface="Liberation Sans"/>
                <a:ea typeface="Liberation Sans"/>
                <a:cs typeface="Liberation Sans"/>
              </a:rPr>
              <a:t>Демо открыто для всех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F1AC7A-6052-4484-A80F-3807FB6F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52950"/>
            <a:ext cx="62007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C382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C38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C382E"/>
                </a:solidFill>
                <a:latin typeface="Liberation Sans"/>
                <a:ea typeface="Liberation Sans"/>
                <a:cs typeface="Liberation Sans"/>
              </a:rPr>
              <a:t>qorai-taraz.nursultantulegen11.chatgpt.site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FC9B93-A6E9-4767-8CDC-157FEA41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60483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rPr>
              <a:t>Команда QorAI</a:t>
            </a:r>
          </a:p>
          <a:p xmlns:a="http://schemas.openxmlformats.org/drawingml/2006/main">
            <a:pPr>
              <a:defRPr sz="1800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667B6D"/>
                </a:solidFill>
                <a:latin typeface="Liberation Sans"/>
                <a:ea typeface="Liberation Sans"/>
                <a:cs typeface="Liberation Sans"/>
              </a:rPr>
              <a:t>Idea Battle, 22 октября 2026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B5C768-F31C-4433-8477-1A9E849AB4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12e4b8374246b0"/>
          <a:srcRect xmlns:a="http://schemas.openxmlformats.org/drawingml/2006/main" l="19000" t="7500" r="2000" b="4000"/>
          <a:stretch xmlns:a="http://schemas.openxmlformats.org/drawingml/2006/main"/>
        </p:blipFill>
        <p:spPr>
          <a:xfrm xmlns:a="http://schemas.openxmlformats.org/drawingml/2006/main">
            <a:off x="7229475" y="1571625"/>
            <a:ext cx="4429125" cy="41624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488AEC-19A5-4266-96F5-5CFD845B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4664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4664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664F"/>
                </a:solidFill>
                <a:latin typeface="Liberation Sans"/>
                <a:ea typeface="Liberation Sans"/>
                <a:cs typeface="Liberation Sans"/>
              </a:rPr>
              <a:t>QorAI</a:t>
            </a:r>
          </a:p>
        </p:txBody>
      </p:sp>
    </p:spTree>
    <p:extLst>
      <p:ext uri="{BB962C8B-B14F-4D97-AF65-F5344CB8AC3E}">
        <p14:creationId xmlns:p14="http://schemas.microsoft.com/office/powerpoint/2010/main" val="7362118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2026-10-17T17:58:38.1690000Z</dcterms:created>
  <dcterms:modified xsi:type="dcterms:W3CDTF">2026-10-17T17:58:38.1690000Z</dcterms:modified>
</coreProperties>
</file>