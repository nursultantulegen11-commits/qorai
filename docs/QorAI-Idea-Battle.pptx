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48e6c82c4849b7" /><Relationship Type="http://schemas.openxmlformats.org/officeDocument/2006/relationships/extended-properties" Target="/docProps/app.xml" Id="R6ce43e4e84cb496f" /><Relationship Type="http://schemas.openxmlformats.org/officeDocument/2006/relationships/officeDocument" Target="/ppt/presentation.xml" Id="R6619bffda5284f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eb98fb8cc442a4"/>
  </p:sldMasterIdLst>
  <p:notesMasterIdLst>
    <p:notesMasterId xmlns:r="http://schemas.openxmlformats.org/officeDocument/2006/relationships" r:id="R1812eda35fd047fa"/>
  </p:notesMasterIdLst>
  <p:sldIdLst>
    <p:sldId xmlns:r="http://schemas.openxmlformats.org/officeDocument/2006/relationships" id="256" r:id="R710ca99cb2314989"/>
    <p:sldId xmlns:r="http://schemas.openxmlformats.org/officeDocument/2006/relationships" id="257" r:id="R68a46794254048cf"/>
    <p:sldId xmlns:r="http://schemas.openxmlformats.org/officeDocument/2006/relationships" id="258" r:id="R83db7d1a493a4de6"/>
    <p:sldId xmlns:r="http://schemas.openxmlformats.org/officeDocument/2006/relationships" id="259" r:id="Rcf88bac8d49e44c6"/>
    <p:sldId xmlns:r="http://schemas.openxmlformats.org/officeDocument/2006/relationships" id="260" r:id="R5a184b5a3f994868"/>
    <p:sldId xmlns:r="http://schemas.openxmlformats.org/officeDocument/2006/relationships" id="261" r:id="R4f940690bed84802"/>
    <p:sldId xmlns:r="http://schemas.openxmlformats.org/officeDocument/2006/relationships" id="262" r:id="Re68e640086ca44e4"/>
    <p:sldId xmlns:r="http://schemas.openxmlformats.org/officeDocument/2006/relationships" id="263" r:id="Rda3ca9e62554463d"/>
    <p:sldId xmlns:r="http://schemas.openxmlformats.org/officeDocument/2006/relationships" id="264" r:id="Ra8d85ebb4eee40f8"/>
    <p:sldId xmlns:r="http://schemas.openxmlformats.org/officeDocument/2006/relationships" id="265" r:id="R0ecf7bf74c3548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ebabbee80045ee" /><Relationship Type="http://schemas.openxmlformats.org/officeDocument/2006/relationships/slideMaster" Target="/ppt/slideMasters/slideMaster1.xml" Id="Re4eb98fb8cc442a4" /><Relationship Type="http://schemas.openxmlformats.org/officeDocument/2006/relationships/notesMaster" Target="/ppt/notesMasters/notesMaster1.xml" Id="R1812eda35fd047fa" /><Relationship Type="http://schemas.openxmlformats.org/officeDocument/2006/relationships/presProps" Target="/ppt/presProps.xml" Id="Ra8fa37623b7a48e6" /><Relationship Type="http://schemas.openxmlformats.org/officeDocument/2006/relationships/tableStyles" Target="/ppt/tableStyles.xml" Id="Rac2bca7953cd4396" /><Relationship Type="http://schemas.openxmlformats.org/officeDocument/2006/relationships/slide" Target="/ppt/slides/slide1.xml" Id="R710ca99cb2314989" /><Relationship Type="http://schemas.openxmlformats.org/officeDocument/2006/relationships/slide" Target="/ppt/slides/slide2.xml" Id="R68a46794254048cf" /><Relationship Type="http://schemas.openxmlformats.org/officeDocument/2006/relationships/slide" Target="/ppt/slides/slide3.xml" Id="R83db7d1a493a4de6" /><Relationship Type="http://schemas.openxmlformats.org/officeDocument/2006/relationships/slide" Target="/ppt/slides/slide4.xml" Id="Rcf88bac8d49e44c6" /><Relationship Type="http://schemas.openxmlformats.org/officeDocument/2006/relationships/slide" Target="/ppt/slides/slide5.xml" Id="R5a184b5a3f994868" /><Relationship Type="http://schemas.openxmlformats.org/officeDocument/2006/relationships/slide" Target="/ppt/slides/slide6.xml" Id="R4f940690bed84802" /><Relationship Type="http://schemas.openxmlformats.org/officeDocument/2006/relationships/slide" Target="/ppt/slides/slide7.xml" Id="Re68e640086ca44e4" /><Relationship Type="http://schemas.openxmlformats.org/officeDocument/2006/relationships/slide" Target="/ppt/slides/slide8.xml" Id="Rda3ca9e62554463d" /><Relationship Type="http://schemas.openxmlformats.org/officeDocument/2006/relationships/slide" Target="/ppt/slides/slide9.xml" Id="Ra8d85ebb4eee40f8" /><Relationship Type="http://schemas.openxmlformats.org/officeDocument/2006/relationships/slide" Target="/ppt/slides/slide10.xml" Id="R0ecf7bf74c3548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c0acd3d1c442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Liberation Sans"/>
        <a:ea typeface=""/>
        <a:cs typeface=""/>
      </a:majorFont>
      <a:minorFont>
        <a:latin typeface="Liberation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f2d7bece90499d" /><Relationship Type="http://schemas.openxmlformats.org/officeDocument/2006/relationships/notesMaster" Target="/ppt/notesMasters/notesMaster1.xml" Id="R1dc54b60745d4c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42c3e29e834aec" /><Relationship Type="http://schemas.openxmlformats.org/officeDocument/2006/relationships/notesMaster" Target="/ppt/notesMasters/notesMaster1.xml" Id="Rf8320ce9b56c46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8b193958464923" /><Relationship Type="http://schemas.openxmlformats.org/officeDocument/2006/relationships/notesMaster" Target="/ppt/notesMasters/notesMaster1.xml" Id="Rad59d09dc45e49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267e72a99643df" /><Relationship Type="http://schemas.openxmlformats.org/officeDocument/2006/relationships/notesMaster" Target="/ppt/notesMasters/notesMaster1.xml" Id="R13bcb26cf85645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b2bb43d2a44d99" /><Relationship Type="http://schemas.openxmlformats.org/officeDocument/2006/relationships/notesMaster" Target="/ppt/notesMasters/notesMaster1.xml" Id="Rad4ddb4dcae44b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478a06f6794c72" /><Relationship Type="http://schemas.openxmlformats.org/officeDocument/2006/relationships/notesMaster" Target="/ppt/notesMasters/notesMaster1.xml" Id="R31888bc48f7742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e8afd4bd9a468a" /><Relationship Type="http://schemas.openxmlformats.org/officeDocument/2006/relationships/notesMaster" Target="/ppt/notesMasters/notesMaster1.xml" Id="R741a739bc64647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a017e3658e4199" /><Relationship Type="http://schemas.openxmlformats.org/officeDocument/2006/relationships/notesMaster" Target="/ppt/notesMasters/notesMaster1.xml" Id="R420f33e18dc246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b6853004ce453f" /><Relationship Type="http://schemas.openxmlformats.org/officeDocument/2006/relationships/notesMaster" Target="/ppt/notesMasters/notesMaster1.xml" Id="R8893a1ced3f042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c79c0cb247474f" /><Relationship Type="http://schemas.openxmlformats.org/officeDocument/2006/relationships/notesMaster" Target="/ppt/notesMasters/notesMaster1.xml" Id="R94c9944f10f04c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0:00–0:20</a:t>
            </a:r>
          </a:p>
          <a:p xmlns:a="http://schemas.openxmlformats.org/drawingml/2006/main">
            <a:r>
              <a:t>Здравствуйте! Мы команда QorAI. Делаем помощника для владельцев кафе и магазинов Тараза. Он помогает вести склад и готовить закупки с телефона. Наша цель простая: чтобы владелец понимал, что осталось, какие продукты пора использовать и что нужно заказать к следующему дню.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  <a:p xmlns:a="http://schemas.openxmlformats.org/drawingml/2006/main">
            <a:r>
              <a:t>Фотография: Long Chung, Unsplash. https://unsplash.com/es/fotos/barista-trabajando-detras-de-un-mostrador-de-cafe-H7PLuaYW6UQ</a:t>
            </a:r>
          </a:p>
          <a:p xmlns:a="http://schemas.openxmlformats.org/drawingml/2006/main">
            <a:r>
              <a:t>Лицензия: https://unsplash.com/license</a:t>
            </a:r>
          </a:p>
          <a:p xmlns:a="http://schemas.openxmlformats.org/drawingml/2006/main">
            <a:r>
              <a:t>Иллюстративное фото. Оно не изображает заявленного клиента или бизнес Тараза.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0:20–0:45</a:t>
            </a:r>
          </a:p>
          <a:p xmlns:a="http://schemas.openxmlformats.org/drawingml/2006/main">
            <a:r>
              <a:t>В небольшой точке собственник часто сам принимает товар, работает с клиентами и договаривается с поставщиками. Остатки считают вручную, накладные остаются в переписке, а закупки делают по памяти. Избыток приводит к списаниям, дефицит мешает продажам. Мы начинаем с этой повседневной задачи. Размер потерь будем измерять вместе с первыми участниками пилота.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  <a:p xmlns:a="http://schemas.openxmlformats.org/drawingml/2006/main">
            <a:r>
              <a:t>Фотография: Sean Thoman, Unsplash. https://unsplash.com/photos/fresh-lettuce-and-vegetables-displayed-at-a-market-V-j4JAw_mFk</a:t>
            </a:r>
          </a:p>
          <a:p xmlns:a="http://schemas.openxmlformats.org/drawingml/2006/main">
            <a:r>
              <a:t>Лицензия: https://unsplash.com/license</a:t>
            </a:r>
          </a:p>
          <a:p xmlns:a="http://schemas.openxmlformats.org/drawingml/2006/main">
            <a:r>
              <a:t>Иллюстративное фото. Оно не изображает заявленного клиента или бизнес Тараза.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0:45–1:15</a:t>
            </a:r>
          </a:p>
          <a:p xmlns:a="http://schemas.openxmlformats.org/drawingml/2006/main">
            <a:r>
              <a:t>Вот настоящий интерфейс нового сайта. На одном экране владелец видит стоимость запасов, позиции к закупке и товары, у которых скоро истечёт срок. Рядом находится движение товаров. Сейчас на экране учебные данные, чтобы любой человек мог открыть публичную демонстрацию без регистрации. После входа пользователь работает со своим складом, а сервер сохраняет изменения в базе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1:15–1:55</a:t>
            </a:r>
          </a:p>
          <a:p xmlns:a="http://schemas.openxmlformats.org/drawingml/2006/main">
            <a:r>
              <a:t>Приход начинается с накладной, голосового сообщения или текста. После разбора человек проверяет названия, количество, цену и срок годности. Только подтверждение владельца меняет остатки. Текст по шаблону и ручной ввод уже работают без внешнего ИИ. Для распознавания фотографий и голоса предусмотрена интеграция Gemini, ей нужен отдельный серверный ключ. На этих кадрах показан реальный разбор текста «Молоко двадцать литров по четыреста пятьдесят тенге».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  <a:p xmlns:a="http://schemas.openxmlformats.org/drawingml/2006/main">
            <a:r>
              <a:t>Фото и аудио в публичном демо не отправлялись в Gemini. Серверный Gemini API key ещё требуется для реального распознавания.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1:55–2:30</a:t>
            </a:r>
          </a:p>
          <a:p xmlns:a="http://schemas.openxmlformats.org/drawingml/2006/main">
            <a:r>
              <a:t>QorAI рассчитывает, сколько докупить, из истории продаж, доступных остатков и нужного покрытия. Он учитывает срок доставки, минимальный запас и пригодность партий. История может охватывать до двадцати восьми дней. Если продаж ещё нет, используем минимальный остаток. Поправки на выходные и погоду пока условные, их нужно проверить на данных пилота. Это прозрачный расчёт MVP, точность машинного обучения мы пока не заявляем.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  <a:p xmlns:a="http://schemas.openxmlformats.org/drawingml/2006/main">
            <a:r>
              <a:t>Расчёт спроса в исходниках: lib/domain.ts. Поправки на погоду и выходные не являются обученной ML-моделью. Экономия не измерена.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2:30–3:05</a:t>
            </a:r>
          </a:p>
          <a:p xmlns:a="http://schemas.openxmlformats.org/drawingml/2006/main">
            <a:r>
              <a:t>Мы добавили поставщиков. Владелец сохраняет компанию, контактное лицо, телефон, Telegram и условия поставки. Из плана закупок он открывает черновик заказа и редактирует список под выбранного поставщика. После нажатия WhatsApp или Telegram открывается нужный мессенджер. Сообщение отправляет сам пользователь. На снимке учебный контакт, поэтому презентация не раскрывает реальные номера поставщиков.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3:05–3:25</a:t>
            </a:r>
          </a:p>
          <a:p xmlns:a="http://schemas.openxmlformats.org/drawingml/2006/main">
            <a:r>
              <a:t>Сайт адаптирован под компьютер и телефон. На смартфоне навигация находится внизу, а товары показаны удобными карточками. PWA можно добавить на главный экран. Данные личного аккаунта хранятся на сервере. Владелец также может выгрузить учёт в CSV или JSON. На слайде реальные мобильные экраны, открытые в браузере.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3:25–4:00</a:t>
            </a:r>
          </a:p>
          <a:p xmlns:a="http://schemas.openxmlformats.org/drawingml/2006/main">
            <a:r>
              <a:t>Первый рынок для нас — независимые кафе, кофейни и небольшие магазины Тараза. Планируем десять интервью и пилот с тремя точками. Сравним время на ввод прихода, частоту ошибок и регулярность использования плана закупок. Если участники продолжат пользоваться сервисом и увидят пользу, проверим оплату. Эти цифры описывают план, привлечённых клиентов и подтверждённой экономии у нас пока нет.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  <a:p xmlns:a="http://schemas.openxmlformats.org/drawingml/2006/main">
            <a:r>
              <a:t>Фотография: Lawrence Chismorie, Unsplash. https://unsplash.com/photos/a-vendor-arranges-fresh-produce-at-an-outdoor-market-oKw2DRoL2QM</a:t>
            </a:r>
          </a:p>
          <a:p xmlns:a="http://schemas.openxmlformats.org/drawingml/2006/main">
            <a:r>
              <a:t>Лицензия: https://unsplash.com/license</a:t>
            </a:r>
          </a:p>
          <a:p xmlns:a="http://schemas.openxmlformats.org/drawingml/2006/main">
            <a:r>
              <a:t>Иллюстративное фото. Оно не изображает заявленного клиента или бизнес Тараза.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4:00–4:25</a:t>
            </a:r>
          </a:p>
          <a:p xmlns:a="http://schemas.openxmlformats.org/drawingml/2006/main">
            <a:r>
              <a:t>Наша ценовая гипотеза — девять тысяч девятьсот тенге в месяц за одну торговую точку. Это ещё не действующий платный тариф. При тридцати платящих точках месячная выручка составит двести девяносто семь тысяч тенге до расходов на ИИ, хостинг и поддержку. Готовность платить и расходы на обслуживание проверим на пилоте.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4:25–5:00</a:t>
            </a:r>
          </a:p>
          <a:p xmlns:a="http://schemas.openxmlformats.org/drawingml/2006/main">
            <a:r>
              <a:t>Сейчас у нас есть публичный сайт с демонстрацией, склад с сохранением данных, история операций, план закупок и контакты поставщиков с переходом в мессенджеры. Следующий шаг — три пилотные точки в Таразе. Ищем владельцев, с которыми сможем проверить сценарий на реальных приходах и продажах. Откройте репозиторий по ссылке на экране: в нём есть ссылка на демонстрацию. Спасибо! Мы команда QorAI.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Проверка фактов: функциональность подтверждена локальным кодом и снимками публичного сайта 17.10.2026. Склад и поставщики на снимках учебные. Пилот и цена являются планом и гипотезой.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91afd71364b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34c7324a874a9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8373b3f8847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8d16a778d48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803fac379464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0ae26d04a949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4BDABC-A6DF-4F71-974B-44C9659439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31128AB-C304-42A7-A4B9-7129B742A8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D712041-8CC1-4276-B4C3-1A1910B240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EFF15F-64BE-45FD-807D-CB7F2403D3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363158-D659-447A-BAF7-C5B5603F94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5067A46-74F0-4F47-B6BF-256A61B798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147C793-751A-444C-AF37-4B721BD63C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E93E5DF-40E4-4805-B075-3651D0DEC8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CB47B6-E4EA-439E-8C1E-F6F1423704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8F5488-8CBC-4CF4-98A2-395D732164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db1368c86c4dd1" /><Relationship Type="http://schemas.openxmlformats.org/officeDocument/2006/relationships/slideLayout" Target="/ppt/slideLayouts/slideLayout1.xml" Id="Rc6a8de6f23a34c66" /><Relationship Type="http://schemas.openxmlformats.org/officeDocument/2006/relationships/slideLayout" Target="/ppt/slideLayouts/slideLayout2.xml" Id="R7f53302939a0440d" /><Relationship Type="http://schemas.openxmlformats.org/officeDocument/2006/relationships/slideLayout" Target="/ppt/slideLayouts/slideLayout3.xml" Id="Rb1211b0cfd30488c" /><Relationship Type="http://schemas.openxmlformats.org/officeDocument/2006/relationships/slideLayout" Target="/ppt/slideLayouts/slideLayout4.xml" Id="Rd4b2ec1ed01e4217" /><Relationship Type="http://schemas.openxmlformats.org/officeDocument/2006/relationships/slideLayout" Target="/ppt/slideLayouts/slideLayout5.xml" Id="R76ed8953482848cc" /><Relationship Type="http://schemas.openxmlformats.org/officeDocument/2006/relationships/slideLayout" Target="/ppt/slideLayouts/slideLayout6.xml" Id="R5524a1028ea54c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a8de6f23a34c66"/>
    <p:sldLayoutId xmlns:r="http://schemas.openxmlformats.org/officeDocument/2006/relationships" id="2147483650" r:id="R7f53302939a0440d"/>
    <p:sldLayoutId xmlns:r="http://schemas.openxmlformats.org/officeDocument/2006/relationships" id="2147483651" r:id="Rb1211b0cfd30488c"/>
    <p:sldLayoutId xmlns:r="http://schemas.openxmlformats.org/officeDocument/2006/relationships" id="2147483652" r:id="Rd4b2ec1ed01e4217"/>
    <p:sldLayoutId xmlns:r="http://schemas.openxmlformats.org/officeDocument/2006/relationships" id="2147483653" r:id="R76ed8953482848cc"/>
    <p:sldLayoutId xmlns:r="http://schemas.openxmlformats.org/officeDocument/2006/relationships" id="2147483654" r:id="R5524a1028ea54c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Liberation Sans"/>
        <a:ea typeface=""/>
        <a:cs typeface=""/>
      </a:majorFont>
      <a:minorFont>
        <a:latin typeface="Liberation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0162d9dab04c57" /><Relationship Type="http://schemas.openxmlformats.org/officeDocument/2006/relationships/image" Target="/ppt/media/image.jpeg" Id="R468b3bf60519471e" /><Relationship Type="http://schemas.openxmlformats.org/officeDocument/2006/relationships/notesSlide" Target="/ppt/notesSlides/notesSlide1.xml" Id="R775d5f8950c844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cb4088b8f44cfb" /><Relationship Type="http://schemas.openxmlformats.org/officeDocument/2006/relationships/image" Target="/ppt/media/image2.jpeg" Id="Rb98a98dccd164c23" /><Relationship Type="http://schemas.openxmlformats.org/officeDocument/2006/relationships/notesSlide" Target="/ppt/notesSlides/notesSlide2.xml" Id="R66cc753dae2141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0ac382cfa14b64" /><Relationship Type="http://schemas.openxmlformats.org/officeDocument/2006/relationships/image" Target="/ppt/media/image3.jpeg" Id="R7409ab4f5fa24e31" /><Relationship Type="http://schemas.openxmlformats.org/officeDocument/2006/relationships/notesSlide" Target="/ppt/notesSlides/notesSlide3.xml" Id="Rb44c464751e247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c3b5176e6b4180" /><Relationship Type="http://schemas.openxmlformats.org/officeDocument/2006/relationships/image" Target="/ppt/media/image4.jpeg" Id="R544f874d5d374301" /><Relationship Type="http://schemas.openxmlformats.org/officeDocument/2006/relationships/image" Target="/ppt/media/image5.jpeg" Id="Rf5cdb73c16294ce3" /><Relationship Type="http://schemas.openxmlformats.org/officeDocument/2006/relationships/notesSlide" Target="/ppt/notesSlides/notesSlide4.xml" Id="R8eced84b058148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08682384be4692" /><Relationship Type="http://schemas.openxmlformats.org/officeDocument/2006/relationships/image" Target="/ppt/media/image6.jpeg" Id="R5e2728741950486e" /><Relationship Type="http://schemas.openxmlformats.org/officeDocument/2006/relationships/notesSlide" Target="/ppt/notesSlides/notesSlide5.xml" Id="Rfe5d6868a3354e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6ac963a03e45b9" /><Relationship Type="http://schemas.openxmlformats.org/officeDocument/2006/relationships/image" Target="/ppt/media/image7.jpeg" Id="R1a83f862d30d47dd" /><Relationship Type="http://schemas.openxmlformats.org/officeDocument/2006/relationships/image" Target="/ppt/media/image8.jpeg" Id="R4e0df1223ffe4ec0" /><Relationship Type="http://schemas.openxmlformats.org/officeDocument/2006/relationships/notesSlide" Target="/ppt/notesSlides/notesSlide6.xml" Id="R22adfdfce8f940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ce9fbc3cff48c1" /><Relationship Type="http://schemas.openxmlformats.org/officeDocument/2006/relationships/image" Target="/ppt/media/image9.jpeg" Id="R73c4656b773f4755" /><Relationship Type="http://schemas.openxmlformats.org/officeDocument/2006/relationships/image" Target="/ppt/media/image10.jpeg" Id="Rac911173ad4a484c" /><Relationship Type="http://schemas.openxmlformats.org/officeDocument/2006/relationships/notesSlide" Target="/ppt/notesSlides/notesSlide7.xml" Id="R10f6a750b96948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df1b06f4f4c70" /><Relationship Type="http://schemas.openxmlformats.org/officeDocument/2006/relationships/image" Target="/ppt/media/image11.jpeg" Id="Rd8f8016fe840449b" /><Relationship Type="http://schemas.openxmlformats.org/officeDocument/2006/relationships/notesSlide" Target="/ppt/notesSlides/notesSlide8.xml" Id="Reafeae910d2e4e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4e5063d9fb43b7" /><Relationship Type="http://schemas.openxmlformats.org/officeDocument/2006/relationships/notesSlide" Target="/ppt/notesSlides/notesSlide9.xml" Id="R1623769904f946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6ad98f65f245a8" /><Relationship Type="http://schemas.openxmlformats.org/officeDocument/2006/relationships/image" Target="/ppt/media/image12.jpeg" Id="Rff73d5be8d35464c" /><Relationship Type="http://schemas.openxmlformats.org/officeDocument/2006/relationships/notesSlide" Target="/ppt/notesSlides/notesSlide10.xml" Id="Rfd32993fe60f40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3C1C0-E43C-40EA-893D-339C684D5A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b3bf60519471e"/>
          <a:srcRect xmlns:a="http://schemas.openxmlformats.org/drawingml/2006/main" l="30000" t="0" r="5000" b="0"/>
          <a:stretch xmlns:a="http://schemas.openxmlformats.org/drawingml/2006/main"/>
        </p:blipFill>
        <p:spPr>
          <a:xfrm xmlns:a="http://schemas.openxmlformats.org/drawingml/2006/main">
            <a:off x="5848350" y="0"/>
            <a:ext cx="63436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7D8D3-0B06-4C64-B119-9638B2F7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КОМАНДА QORAI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CA879-2741-4AC0-8CFE-EB4BB17C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76375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8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8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0D394-CA80-4658-8114-81D339E5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71825"/>
            <a:ext cx="4857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92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92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Запасы под контролем.</a:t>
            </a:r>
          </a:p>
          <a:p xmlns:a="http://schemas.openxmlformats.org/drawingml/2006/main">
            <a:pPr>
              <a:defRPr sz="292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92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Закупки без хаоса.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DFB55-F32F-4F2B-9DEF-C60410C7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Помощник для кафе</a:t>
            </a:r>
          </a:p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и магазинов Тараза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E1225-655C-45F3-B29A-0C244F9D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IDEA BATTLE 2026</a:t>
            </a:r>
          </a:p>
        </p:txBody>
      </p:sp>
    </p:spTree>
    <p:extLst>
      <p:ext uri="{BB962C8B-B14F-4D97-AF65-F5344CB8AC3E}">
        <p14:creationId xmlns:p14="http://schemas.microsoft.com/office/powerpoint/2010/main" val="20396086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A434C-DF72-4773-A7E7-3BFD48026D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a98dccd164c23"/>
          <a:srcRect xmlns:a="http://schemas.openxmlformats.org/drawingml/2006/main" l="14000" t="0" r="20000" b="0"/>
          <a:stretch xmlns:a="http://schemas.openxmlformats.org/drawingml/2006/main"/>
        </p:blipFill>
        <p:spPr>
          <a:xfrm xmlns:a="http://schemas.openxmlformats.org/drawingml/2006/main">
            <a:off x="6334125" y="0"/>
            <a:ext cx="585787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2F0A8-DC19-4522-98C3-D0EAF9C3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8250"/>
            <a:ext cx="5572125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Деньги теряются</a:t>
            </a:r>
          </a:p>
          <a:p xmlns:a="http://schemas.openxmlformats.org/drawingml/2006/main">
            <a: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между закупкой</a:t>
            </a:r>
          </a:p>
          <a:p xmlns:a="http://schemas.openxmlformats.org/drawingml/2006/main">
            <a: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и продажей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A992A-95D4-4D2C-BF95-6F51DBDA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528637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Избыток ведёт к списаниям.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Дефицит срывает продажи.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Ручной учёт отнимает время.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A1DB2-5C16-4F71-9990-E4F07387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Проблема, которую проверяем с владельцами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6E907-7E9E-4B58-AD5F-D8F70528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9E3B59-1D44-4060-840F-B8AF2655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02 / 10</a:t>
            </a:r>
          </a:p>
        </p:txBody>
      </p:sp>
    </p:spTree>
    <p:extLst>
      <p:ext uri="{BB962C8B-B14F-4D97-AF65-F5344CB8AC3E}">
        <p14:creationId xmlns:p14="http://schemas.microsoft.com/office/powerpoint/2010/main" val="1001001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1B7AC-A2BD-4583-A729-5674DA93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03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3811B-B64F-4969-9544-43408F62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35052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Весь склад</a:t>
            </a:r>
          </a:p>
          <a:p xmlns:a="http://schemas.openxmlformats.org/drawingml/2006/main">
            <a: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на одном</a:t>
            </a:r>
          </a:p>
          <a:p xmlns:a="http://schemas.openxmlformats.org/drawingml/2006/main">
            <a:pPr>
              <a:def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экране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9A3D5-9239-4369-9188-89377D46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32861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Остатки в тенге.</a:t>
            </a:r>
          </a:p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Товары к закупке.</a:t>
            </a:r>
          </a:p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Ближайшие сроки.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6535D-C2C3-494B-9DD5-D56A8EFE30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9ab4f5fa24e31"/>
          <a:srcRect xmlns:a="http://schemas.openxmlformats.org/drawingml/2006/main" l="0" t="4500" r="0" b="46000"/>
          <a:stretch xmlns:a="http://schemas.openxmlformats.org/drawingml/2006/main"/>
        </p:blipFill>
        <p:spPr>
          <a:xfrm xmlns:a="http://schemas.openxmlformats.org/drawingml/2006/main">
            <a:off x="4210050" y="1228725"/>
            <a:ext cx="7448550" cy="48672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98159-CCB6-4C07-8E8C-2FB55617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Рабочий сайт QorAI. На экранах учебные данные.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E175E-F0CF-4238-8EE0-DBC83B09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6516167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3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049EB-71C8-4845-B6A5-38670E14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04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0A16BA-EBA2-4475-B097-EAAF6D79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953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От накладной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к приходу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05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на склад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D204E-F3C6-4D59-B445-6866C5C5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50482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Фото, голос или текст.</a:t>
            </a:r>
          </a:p>
          <a:p xmlns:a="http://schemas.openxmlformats.org/drawingml/2006/main">
            <a:pPr>
              <a:def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Проверка позиций владельцем.</a:t>
            </a:r>
          </a:p>
          <a:p xmlns:a="http://schemas.openxmlformats.org/drawingml/2006/main">
            <a:pPr>
              <a:def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Подтверждение прихода.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C93DA-CDC3-4754-8671-7FFB5828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81075"/>
            <a:ext cx="2428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Ввод закупки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D7A68A-D8D0-4C8C-A4E0-DCDBAED8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981075"/>
            <a:ext cx="2428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Проверка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C1394-0437-4812-B5DD-3413B48B6C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f874d5d374301"/>
          <a:srcRect xmlns:a="http://schemas.openxmlformats.org/drawingml/2006/main" l="2000" t="28000" r="2000" b="2000"/>
          <a:stretch xmlns:a="http://schemas.openxmlformats.org/drawingml/2006/main"/>
        </p:blipFill>
        <p:spPr>
          <a:xfrm xmlns:a="http://schemas.openxmlformats.org/drawingml/2006/main">
            <a:off x="6191250" y="1543050"/>
            <a:ext cx="2533650" cy="43434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BD5B3-735D-40E6-A73D-F72AC7DC86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db73c16294ce3"/>
          <a:srcRect xmlns:a="http://schemas.openxmlformats.org/drawingml/2006/main" l="2000" t="5500" r="2000" b="2000"/>
          <a:stretch xmlns:a="http://schemas.openxmlformats.org/drawingml/2006/main"/>
        </p:blipFill>
        <p:spPr>
          <a:xfrm xmlns:a="http://schemas.openxmlformats.org/drawingml/2006/main">
            <a:off x="9086850" y="1419225"/>
            <a:ext cx="2514600" cy="4857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2E9D7-19D1-46C0-ACC7-DF18B443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Для фото и голоса нужен серверный ключ Gemini.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DD731-0027-4F06-B57C-B3679B6E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19234585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ED808A-F308-42A6-BAD5-DB4E582E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05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5BC73-9192-4557-97BC-188DA1D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11001375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QorAI подсказывает,</a:t>
            </a:r>
          </a:p>
          <a:p xmlns:a="http://schemas.openxmlformats.org/drawingml/2006/main">
            <a:pPr>
              <a:def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сколько докупить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CFD92-0938-4234-A454-949B3BDD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Расход за день</a:t>
            </a:r>
          </a:p>
          <a:p xmlns:a="http://schemas.openxmlformats.org/drawingml/2006/main">
            <a:pPr>
              <a:def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× дни покрытия</a:t>
            </a:r>
          </a:p>
          <a:p xmlns:a="http://schemas.openxmlformats.org/drawingml/2006/main">
            <a:pPr>
              <a:def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− пригодный остаток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963A7-8AA7-49E3-89C8-9A7B8283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3381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Учитываем срок поставки</a:t>
            </a:r>
          </a:p>
          <a:p xmlns:a="http://schemas.openxmlformats.org/drawingml/2006/main">
            <a:pPr>
              <a:def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и минимальный запас.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CCFCB-1692-429B-996D-B7DBF48376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728741950486e"/>
          <a:srcRect xmlns:a="http://schemas.openxmlformats.org/drawingml/2006/main" l="19000" t="31000" r="2000" b="20000"/>
          <a:stretch xmlns:a="http://schemas.openxmlformats.org/drawingml/2006/main"/>
        </p:blipFill>
        <p:spPr>
          <a:xfrm xmlns:a="http://schemas.openxmlformats.org/drawingml/2006/main">
            <a:off x="4257675" y="2628900"/>
            <a:ext cx="7419975" cy="3171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90FE3A-3F4B-40DA-928A-6EC408EC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Погодные поправки и коэффициенты выходных пока остаются гипотезой MVP.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07B95-C5BA-4BD4-9EAF-430F4BA7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13823285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3C7CF-991D-46A1-8630-2783A50C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06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25A36-1B09-4E3F-9F92-8DB41CA3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5981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7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67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7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Поставщик сохранён.</a:t>
            </a:r>
          </a:p>
          <a:p xmlns:a="http://schemas.openxmlformats.org/drawingml/2006/main">
            <a:pPr>
              <a:defRPr sz="367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67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Заказ уже в черновике.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15528-83A4-4EDD-A790-A882EC27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62275"/>
            <a:ext cx="3476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Имя, номер, Telegram</a:t>
            </a:r>
          </a:p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и условия поставки</a:t>
            </a:r>
          </a:p>
          <a:p xmlns:a="http://schemas.openxmlformats.org/drawingml/2006/main">
            <a:pPr>
              <a:def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в одном контакте.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6146A-D752-4036-8DB6-E3637636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3857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WhatsApp или Telegram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10848-CBF5-498B-AF69-EE32354F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57800"/>
            <a:ext cx="3762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Вы проверяете заказ</a:t>
            </a:r>
          </a:p>
          <a:p xmlns:a="http://schemas.openxmlformats.org/drawingml/2006/main">
            <a:pPr>
              <a:def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и отправляете сообщение.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492A7E-FCA4-4DBF-99F8-70EEC25F47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83f862d30d47dd"/>
          <a:srcRect xmlns:a="http://schemas.openxmlformats.org/drawingml/2006/main" l="19800" t="37800" r="55200" b="25500"/>
          <a:stretch xmlns:a="http://schemas.openxmlformats.org/drawingml/2006/main"/>
        </p:blipFill>
        <p:spPr>
          <a:xfrm xmlns:a="http://schemas.openxmlformats.org/drawingml/2006/main">
            <a:off x="4581525" y="2752725"/>
            <a:ext cx="2800350" cy="31623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BDD7A-5503-4CB9-9BF0-D8ECA984F0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df1223ffe4ec0"/>
          <a:srcRect xmlns:a="http://schemas.openxmlformats.org/drawingml/2006/main" l="32300" t="18600" r="32300" b="18600"/>
          <a:stretch xmlns:a="http://schemas.openxmlformats.org/drawingml/2006/main"/>
        </p:blipFill>
        <p:spPr>
          <a:xfrm xmlns:a="http://schemas.openxmlformats.org/drawingml/2006/main">
            <a:off x="7915275" y="1152525"/>
            <a:ext cx="3676650" cy="4895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DC31A-6CE5-4A84-A70E-EF538A7B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Снимки рабочего интерфейса. Контакт поставщика учебный.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5B3E6-9E47-4B18-AC6B-30DBC1C6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19841512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052A7-F04E-4E00-866C-A19A9627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07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817F5-A3FE-4FEC-ABA2-A65535CD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19225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Склад под рукой.</a:t>
            </a:r>
          </a:p>
          <a:p xmlns:a="http://schemas.openxmlformats.org/drawingml/2006/main">
            <a:pPr>
              <a:def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75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Даже со смартфона.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9C75F-CF45-405D-B358-B2AEF587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67125"/>
            <a:ext cx="5362575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Личный аккаунт хранит данные.</a:t>
            </a:r>
          </a:p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PWA открывается на телефоне.</a:t>
            </a:r>
          </a:p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Экспорт доступен в CSV и JSON.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46EFA-7FA3-41CE-B82A-4E88B721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866775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Обзор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6CBE7-F1A5-4A7D-B294-C4D477F2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866775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Склад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2616F-8EA5-4B87-82A9-C380615376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4656b773f4755"/>
          <a:srcRect xmlns:a="http://schemas.openxmlformats.org/drawingml/2006/main" l="0" t="0" r="2800" b="0"/>
          <a:stretch xmlns:a="http://schemas.openxmlformats.org/drawingml/2006/main"/>
        </p:blipFill>
        <p:spPr>
          <a:xfrm xmlns:a="http://schemas.openxmlformats.org/drawingml/2006/main">
            <a:off x="6486525" y="1304925"/>
            <a:ext cx="2333625" cy="504825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EB0E0-13E3-4FA7-9B96-0CA0B18020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11173ad4a484c"/>
          <a:srcRect xmlns:a="http://schemas.openxmlformats.org/drawingml/2006/main" l="0" t="0" r="2800" b="0"/>
          <a:stretch xmlns:a="http://schemas.openxmlformats.org/drawingml/2006/main"/>
        </p:blipFill>
        <p:spPr>
          <a:xfrm xmlns:a="http://schemas.openxmlformats.org/drawingml/2006/main">
            <a:off x="9267825" y="1304925"/>
            <a:ext cx="2333625" cy="5048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84C508-2E0E-4737-B002-76724D8B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Реальные мобильные экраны QorAI.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52E69-85F1-4922-A448-FD7AB02B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16881081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D6FAC-4BDA-4015-9152-F87EB98C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08 / 10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FF9FA-DB26-4855-BF39-F79D5BED52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8016fe840449b"/>
          <a:srcRect xmlns:a="http://schemas.openxmlformats.org/drawingml/2006/main" l="23000" t="3000" r="31000" b="3000"/>
          <a:stretch xmlns:a="http://schemas.openxmlformats.org/drawingml/2006/main"/>
        </p:blipFill>
        <p:spPr>
          <a:xfrm xmlns:a="http://schemas.openxmlformats.org/drawingml/2006/main">
            <a:off x="0" y="0"/>
            <a:ext cx="503872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1115E-097D-47F2-A375-85A860A2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BDFCC-4163-47D5-AFFE-0B9D8686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1209675"/>
            <a:ext cx="604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Начинаем</a:t>
            </a:r>
          </a:p>
          <a:p xmlns:a="http://schemas.openxmlformats.org/drawingml/2006/main">
            <a:pPr>
              <a:def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с малого бизнеса</a:t>
            </a:r>
          </a:p>
          <a:p xmlns:a="http://schemas.openxmlformats.org/drawingml/2006/main">
            <a:pPr>
              <a:def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825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Тараза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C295F-172B-4833-9811-ED2541DB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09950"/>
            <a:ext cx="581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25" b="1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ПЛАН ПИЛОТА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24874-047E-4016-9992-0ABBF771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952875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3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63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AE4B0-9E40-43ED-A466-AA9B3E74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3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63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50B12-F804-4D92-8D03-4981C2F9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953000"/>
            <a:ext cx="276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интервью</a:t>
            </a:r>
          </a:p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с владельцами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399EC-03D0-40C6-9C6E-0C58216D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953000"/>
            <a:ext cx="276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пилотные</a:t>
            </a:r>
          </a:p>
          <a:p xmlns:a="http://schemas.openxmlformats.org/drawingml/2006/main">
            <a:pPr>
              <a:def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точки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D2DAE-3C4E-440C-8A8E-2AB9BBAE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6057900"/>
            <a:ext cx="592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Измерим время ввода, ошибки и регулярность работы.</a:t>
            </a:r>
          </a:p>
        </p:txBody>
      </p:sp>
    </p:spTree>
    <p:extLst>
      <p:ext uri="{BB962C8B-B14F-4D97-AF65-F5344CB8AC3E}">
        <p14:creationId xmlns:p14="http://schemas.microsoft.com/office/powerpoint/2010/main" val="3314915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3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27133-5808-41E6-ACBB-D404FDB7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09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20A09-5583-4C33-8391-F4493276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08394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9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9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Подписка за одну</a:t>
            </a:r>
          </a:p>
          <a:p xmlns:a="http://schemas.openxmlformats.org/drawingml/2006/main">
            <a:pPr>
              <a:defRPr sz="39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9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торговую точку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5BB65-17E0-4C08-A5DD-DF84FBE6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838450"/>
            <a:ext cx="7239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7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87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87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9 900 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59FCC-CE3C-4ED2-98F7-75894E34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14825"/>
            <a:ext cx="571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в месяц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1A6B8-7872-4F32-8E90-00A35F58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76575"/>
            <a:ext cx="3810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Ценовая гипотеза</a:t>
            </a:r>
          </a:p>
          <a:p xmlns:a="http://schemas.openxmlformats.org/drawingml/2006/main">
            <a:pPr>
              <a:defRPr sz="21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для проверки на пилоте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9EB4C-2C23-4B07-B2E4-26760DBC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858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30 точек = 297 000 ₸ / месяц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20843-5F73-447B-AD6C-1D188F42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1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75" b="0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Сценарий выручки до расходов на ИИ, хостинг и поддержку.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702C1-526F-48AC-9B69-1E4225C3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D5E8B6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20310902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326DE-51C4-4B20-A980-3C54AEA9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3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10 /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0DD51-1330-4CCA-A320-41EB7C5E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62050"/>
            <a:ext cx="6600825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Ищем 3 кафе</a:t>
            </a:r>
          </a:p>
          <a:p xmlns:a="http://schemas.openxmlformats.org/drawingml/2006/main">
            <a:pPr>
              <a:def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или магазина</a:t>
            </a:r>
          </a:p>
          <a:p xmlns:a="http://schemas.openxmlformats.org/drawingml/2006/main">
            <a:pPr>
              <a:def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900" b="1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для пилота в Таразе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C7EC14-830C-4359-ABC9-CB4761B6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5905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Демо и исходники проекта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22E4F-114B-4789-A3C3-85BC8E26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52950"/>
            <a:ext cx="62007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1C382E"/>
                </a:solidFill>
                <a:latin typeface="Liberation Sans"/>
                <a:ea typeface="Liberation Sans"/>
                <a:cs typeface="Liberation Sans"/>
              </a:rPr>
              <a:t>github.com/nursultantulegen11-commits/qorai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DF66C-7722-423A-B809-848E038B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60483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Команда QorAI</a:t>
            </a:r>
          </a:p>
          <a:p xmlns:a="http://schemas.openxmlformats.org/drawingml/2006/main">
            <a:pPr>
              <a:defRPr sz="18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667B6D"/>
                </a:solidFill>
                <a:latin typeface="Liberation Sans"/>
                <a:ea typeface="Liberation Sans"/>
                <a:cs typeface="Liberation Sans"/>
              </a:rPr>
              <a:t>Idea Battle, 22 октября 2026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157C9-6F16-46A2-B9DC-09CE7C70D6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73d5be8d35464c"/>
          <a:srcRect xmlns:a="http://schemas.openxmlformats.org/drawingml/2006/main" l="19000" t="7500" r="2000" b="4000"/>
          <a:stretch xmlns:a="http://schemas.openxmlformats.org/drawingml/2006/main"/>
        </p:blipFill>
        <p:spPr>
          <a:xfrm xmlns:a="http://schemas.openxmlformats.org/drawingml/2006/main">
            <a:off x="7229475" y="1571625"/>
            <a:ext cx="4429125" cy="41624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2FB22-8452-4AD3-92C6-C6F310FF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>
                <a:solidFill>
                  <a:srgbClr val="24664F"/>
                </a:solidFill>
                <a:latin typeface="Liberation Sans"/>
                <a:ea typeface="Liberation Sans"/>
                <a:cs typeface="Liberation Sans"/>
              </a:rPr>
              <a:t>QorAI</a:t>
            </a:r>
          </a:p>
        </p:txBody>
      </p:sp>
    </p:spTree>
    <p:extLst>
      <p:ext uri="{BB962C8B-B14F-4D97-AF65-F5344CB8AC3E}">
        <p14:creationId xmlns:p14="http://schemas.microsoft.com/office/powerpoint/2010/main" val="1890280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Liberation Sans"/>
        <a:ea typeface=""/>
        <a:cs typeface=""/>
      </a:majorFont>
      <a:minorFont>
        <a:latin typeface="Liberation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2026-10-17T18:45:21.2470000Z</dcterms:created>
  <dcterms:modified xsi:type="dcterms:W3CDTF">2026-10-17T18:45:21.2480000Z</dcterms:modified>
</coreProperties>
</file>